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8288000" cy="10287000"/>
  <p:notesSz cx="6858000" cy="9144000"/>
  <p:embeddedFontLst>
    <p:embeddedFont>
      <p:font typeface="Helvetica World" panose="020B0604020202020204" charset="-128"/>
      <p:regular r:id="rId22"/>
    </p:embeddedFont>
    <p:embeddedFont>
      <p:font typeface="Helvetica World Bold" panose="020B0604020202020204" charset="-128"/>
      <p:regular r:id="rId23"/>
    </p:embeddedFont>
    <p:embeddedFont>
      <p:font typeface="Algerian" panose="04020705040A02060702" pitchFamily="82" charset="0"/>
      <p:regular r:id="rId24"/>
    </p:embeddedFont>
    <p:embeddedFont>
      <p:font typeface="Fira Code" panose="020B0809050000020004" pitchFamily="49" charset="0"/>
      <p:regular r:id="rId25"/>
    </p:embeddedFont>
    <p:embeddedFont>
      <p:font typeface="Inclusive Sans" panose="020B0604020202020204" charset="0"/>
      <p:regular r:id="rId26"/>
    </p:embeddedFont>
    <p:embeddedFont>
      <p:font typeface="Lovelace Text Bold" panose="020B0604020202020204" charset="0"/>
      <p:regular r:id="rId27"/>
    </p:embeddedFont>
    <p:embeddedFont>
      <p:font typeface="Perandory"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58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sv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Freeform 2"/>
          <p:cNvSpPr/>
          <p:nvPr/>
        </p:nvSpPr>
        <p:spPr>
          <a:xfrm>
            <a:off x="3821309" y="441542"/>
            <a:ext cx="11301259" cy="1412657"/>
          </a:xfrm>
          <a:custGeom>
            <a:avLst/>
            <a:gdLst/>
            <a:ahLst/>
            <a:cxnLst/>
            <a:rect l="l" t="t" r="r" b="b"/>
            <a:pathLst>
              <a:path w="11301259" h="1412657">
                <a:moveTo>
                  <a:pt x="0" y="0"/>
                </a:moveTo>
                <a:lnTo>
                  <a:pt x="11301259" y="0"/>
                </a:lnTo>
                <a:lnTo>
                  <a:pt x="11301259" y="1412658"/>
                </a:lnTo>
                <a:lnTo>
                  <a:pt x="0" y="1412658"/>
                </a:lnTo>
                <a:lnTo>
                  <a:pt x="0" y="0"/>
                </a:lnTo>
                <a:close/>
              </a:path>
            </a:pathLst>
          </a:custGeom>
          <a:blipFill>
            <a:blip r:embed="rId2"/>
            <a:stretch>
              <a:fillRect/>
            </a:stretch>
          </a:blipFill>
          <a:ln cap="sq">
            <a:noFill/>
            <a:prstDash val="solid"/>
            <a:miter/>
          </a:ln>
        </p:spPr>
        <p:txBody>
          <a:bodyPr/>
          <a:lstStyle/>
          <a:p>
            <a:endParaRPr lang="en-US"/>
          </a:p>
        </p:txBody>
      </p:sp>
      <p:sp>
        <p:nvSpPr>
          <p:cNvPr id="3" name="Freeform 3"/>
          <p:cNvSpPr/>
          <p:nvPr/>
        </p:nvSpPr>
        <p:spPr>
          <a:xfrm>
            <a:off x="4962955" y="179586"/>
            <a:ext cx="1936570" cy="1936570"/>
          </a:xfrm>
          <a:custGeom>
            <a:avLst/>
            <a:gdLst/>
            <a:ahLst/>
            <a:cxnLst/>
            <a:rect l="l" t="t" r="r" b="b"/>
            <a:pathLst>
              <a:path w="1936570" h="1936570">
                <a:moveTo>
                  <a:pt x="0" y="0"/>
                </a:moveTo>
                <a:lnTo>
                  <a:pt x="1936570" y="0"/>
                </a:lnTo>
                <a:lnTo>
                  <a:pt x="1936570" y="1936570"/>
                </a:lnTo>
                <a:lnTo>
                  <a:pt x="0" y="1936570"/>
                </a:lnTo>
                <a:lnTo>
                  <a:pt x="0" y="0"/>
                </a:lnTo>
                <a:close/>
              </a:path>
            </a:pathLst>
          </a:custGeom>
          <a:blipFill>
            <a:blip r:embed="rId3"/>
            <a:stretch>
              <a:fillRect/>
            </a:stretch>
          </a:blipFill>
        </p:spPr>
        <p:txBody>
          <a:bodyPr/>
          <a:lstStyle/>
          <a:p>
            <a:endParaRPr lang="en-US"/>
          </a:p>
        </p:txBody>
      </p:sp>
      <p:sp>
        <p:nvSpPr>
          <p:cNvPr id="4" name="Freeform 4"/>
          <p:cNvSpPr/>
          <p:nvPr/>
        </p:nvSpPr>
        <p:spPr>
          <a:xfrm>
            <a:off x="0" y="9098091"/>
            <a:ext cx="18472831" cy="1188909"/>
          </a:xfrm>
          <a:custGeom>
            <a:avLst/>
            <a:gdLst/>
            <a:ahLst/>
            <a:cxnLst/>
            <a:rect l="l" t="t" r="r" b="b"/>
            <a:pathLst>
              <a:path w="18472831" h="1188909">
                <a:moveTo>
                  <a:pt x="0" y="0"/>
                </a:moveTo>
                <a:lnTo>
                  <a:pt x="18472831" y="0"/>
                </a:lnTo>
                <a:lnTo>
                  <a:pt x="18472831" y="1188909"/>
                </a:lnTo>
                <a:lnTo>
                  <a:pt x="0" y="1188909"/>
                </a:lnTo>
                <a:lnTo>
                  <a:pt x="0" y="0"/>
                </a:lnTo>
                <a:close/>
              </a:path>
            </a:pathLst>
          </a:custGeom>
          <a:blipFill>
            <a:blip r:embed="rId4"/>
            <a:stretch>
              <a:fillRect t="-25215" b="-30160"/>
            </a:stretch>
          </a:blipFill>
        </p:spPr>
        <p:txBody>
          <a:bodyPr/>
          <a:lstStyle/>
          <a:p>
            <a:endParaRPr lang="en-US"/>
          </a:p>
        </p:txBody>
      </p:sp>
      <p:grpSp>
        <p:nvGrpSpPr>
          <p:cNvPr id="5" name="Group 5"/>
          <p:cNvGrpSpPr/>
          <p:nvPr/>
        </p:nvGrpSpPr>
        <p:grpSpPr>
          <a:xfrm>
            <a:off x="915241" y="5872363"/>
            <a:ext cx="8556697" cy="2613107"/>
            <a:chOff x="-791729" y="-66675"/>
            <a:chExt cx="11408929" cy="3484142"/>
          </a:xfrm>
        </p:grpSpPr>
        <p:sp>
          <p:nvSpPr>
            <p:cNvPr id="6" name="TextBox 6"/>
            <p:cNvSpPr txBox="1"/>
            <p:nvPr/>
          </p:nvSpPr>
          <p:spPr>
            <a:xfrm>
              <a:off x="0" y="-66675"/>
              <a:ext cx="10617200" cy="676275"/>
            </a:xfrm>
            <a:prstGeom prst="rect">
              <a:avLst/>
            </a:prstGeom>
          </p:spPr>
          <p:txBody>
            <a:bodyPr lIns="0" tIns="0" rIns="0" bIns="0" rtlCol="0" anchor="t">
              <a:spAutoFit/>
            </a:bodyPr>
            <a:lstStyle/>
            <a:p>
              <a:pPr marL="0" lvl="0" indent="0" algn="l">
                <a:lnSpc>
                  <a:spcPts val="4200"/>
                </a:lnSpc>
              </a:pPr>
              <a:endParaRPr/>
            </a:p>
          </p:txBody>
        </p:sp>
        <p:sp>
          <p:nvSpPr>
            <p:cNvPr id="7" name="TextBox 7"/>
            <p:cNvSpPr txBox="1"/>
            <p:nvPr/>
          </p:nvSpPr>
          <p:spPr>
            <a:xfrm>
              <a:off x="-791729" y="580794"/>
              <a:ext cx="10617200" cy="2836673"/>
            </a:xfrm>
            <a:prstGeom prst="rect">
              <a:avLst/>
            </a:prstGeom>
          </p:spPr>
          <p:txBody>
            <a:bodyPr lIns="0" tIns="0" rIns="0" bIns="0" rtlCol="0" anchor="t">
              <a:spAutoFit/>
            </a:bodyPr>
            <a:lstStyle/>
            <a:p>
              <a:pPr marL="0" lvl="0" indent="0" algn="l">
                <a:lnSpc>
                  <a:spcPct val="150000"/>
                </a:lnSpc>
                <a:spcBef>
                  <a:spcPct val="0"/>
                </a:spcBef>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Sinh viên thực hiện</a:t>
              </a:r>
              <a:r>
                <a:rPr lang="en-US" sz="3200" u="none" strike="noStrike">
                  <a:solidFill>
                    <a:srgbClr val="ECF0F1"/>
                  </a:solidFill>
                  <a:latin typeface="Times New Roman" panose="02020603050405020304" pitchFamily="18" charset="0"/>
                  <a:ea typeface="Inclusive Sans"/>
                  <a:cs typeface="Times New Roman" panose="02020603050405020304" pitchFamily="18" charset="0"/>
                  <a:sym typeface="Inclusive Sans"/>
                </a:rPr>
                <a:t>: </a:t>
              </a:r>
            </a:p>
            <a:p>
              <a:pPr marL="237489" lvl="1" algn="l">
                <a:lnSpc>
                  <a:spcPct val="150000"/>
                </a:lnSpc>
                <a:spcBef>
                  <a:spcPct val="0"/>
                </a:spcBef>
              </a:pPr>
              <a:r>
                <a:rPr lang="en-US" sz="3200" u="none" strike="noStrike">
                  <a:solidFill>
                    <a:srgbClr val="ECF0F1"/>
                  </a:solidFill>
                  <a:latin typeface="Times New Roman" panose="02020603050405020304" pitchFamily="18" charset="0"/>
                  <a:ea typeface="Inclusive Sans"/>
                  <a:cs typeface="Times New Roman" panose="02020603050405020304" pitchFamily="18" charset="0"/>
                  <a:sym typeface="Inclusive Sans"/>
                </a:rPr>
                <a:t>	Nguyễn Duy Phát - 110122135</a:t>
              </a:r>
            </a:p>
            <a:p>
              <a:pPr marL="237489" lvl="1" algn="l">
                <a:lnSpc>
                  <a:spcPct val="150000"/>
                </a:lnSpc>
                <a:spcBef>
                  <a:spcPct val="0"/>
                </a:spcBef>
              </a:pPr>
              <a:r>
                <a:rPr lang="en-US" sz="3200" u="none" strike="noStrike">
                  <a:solidFill>
                    <a:srgbClr val="ECF0F1"/>
                  </a:solidFill>
                  <a:latin typeface="Times New Roman" panose="02020603050405020304" pitchFamily="18" charset="0"/>
                  <a:ea typeface="Inclusive Sans"/>
                  <a:cs typeface="Times New Roman" panose="02020603050405020304" pitchFamily="18" charset="0"/>
                  <a:sym typeface="Inclusive Sans"/>
                </a:rPr>
                <a:t>	Sơn Ngọc Tân - 110122154</a:t>
              </a:r>
            </a:p>
          </p:txBody>
        </p:sp>
      </p:grpSp>
      <p:sp>
        <p:nvSpPr>
          <p:cNvPr id="8" name="TextBox 8"/>
          <p:cNvSpPr txBox="1"/>
          <p:nvPr/>
        </p:nvSpPr>
        <p:spPr>
          <a:xfrm>
            <a:off x="2004063" y="5408878"/>
            <a:ext cx="16592550" cy="859210"/>
          </a:xfrm>
          <a:prstGeom prst="rect">
            <a:avLst/>
          </a:prstGeom>
        </p:spPr>
        <p:txBody>
          <a:bodyPr lIns="0" tIns="0" rIns="0" bIns="0" rtlCol="0" anchor="t">
            <a:spAutoFit/>
          </a:bodyPr>
          <a:lstStyle/>
          <a:p>
            <a:pPr marL="0" lvl="0" indent="0" algn="l">
              <a:lnSpc>
                <a:spcPts val="6674"/>
              </a:lnSpc>
            </a:pPr>
            <a:r>
              <a:rPr lang="en-US" sz="6674">
                <a:solidFill>
                  <a:srgbClr val="ECF0F1"/>
                </a:solidFill>
                <a:latin typeface="Times New Roman" panose="02020603050405020304" pitchFamily="18" charset="0"/>
                <a:ea typeface="Lovelace Text"/>
                <a:cs typeface="Times New Roman" panose="02020603050405020304" pitchFamily="18" charset="0"/>
                <a:sym typeface="Lovelace Text"/>
              </a:rPr>
              <a:t>XÂY DỰNG WEBSITE TRANG SỨC BẠC</a:t>
            </a:r>
          </a:p>
        </p:txBody>
      </p:sp>
      <p:grpSp>
        <p:nvGrpSpPr>
          <p:cNvPr id="9" name="Group 9"/>
          <p:cNvGrpSpPr/>
          <p:nvPr/>
        </p:nvGrpSpPr>
        <p:grpSpPr>
          <a:xfrm>
            <a:off x="2004063" y="3473339"/>
            <a:ext cx="14188437" cy="1637607"/>
            <a:chOff x="0" y="-66675"/>
            <a:chExt cx="18917916" cy="2183475"/>
          </a:xfrm>
        </p:grpSpPr>
        <p:sp>
          <p:nvSpPr>
            <p:cNvPr id="10" name="TextBox 10"/>
            <p:cNvSpPr txBox="1"/>
            <p:nvPr/>
          </p:nvSpPr>
          <p:spPr>
            <a:xfrm>
              <a:off x="0" y="-66675"/>
              <a:ext cx="10617200" cy="676275"/>
            </a:xfrm>
            <a:prstGeom prst="rect">
              <a:avLst/>
            </a:prstGeom>
          </p:spPr>
          <p:txBody>
            <a:bodyPr lIns="0" tIns="0" rIns="0" bIns="0" rtlCol="0" anchor="t">
              <a:spAutoFit/>
            </a:bodyPr>
            <a:lstStyle/>
            <a:p>
              <a:pPr marL="0" lvl="0" indent="0" algn="l">
                <a:lnSpc>
                  <a:spcPts val="4200"/>
                </a:lnSpc>
              </a:pPr>
              <a:endParaRPr/>
            </a:p>
          </p:txBody>
        </p:sp>
        <p:sp>
          <p:nvSpPr>
            <p:cNvPr id="11" name="TextBox 11"/>
            <p:cNvSpPr txBox="1"/>
            <p:nvPr/>
          </p:nvSpPr>
          <p:spPr>
            <a:xfrm>
              <a:off x="8300716" y="1247930"/>
              <a:ext cx="10617200" cy="868870"/>
            </a:xfrm>
            <a:prstGeom prst="rect">
              <a:avLst/>
            </a:prstGeom>
          </p:spPr>
          <p:txBody>
            <a:bodyPr lIns="0" tIns="0" rIns="0" bIns="0" rtlCol="0" anchor="t">
              <a:spAutoFit/>
            </a:bodyPr>
            <a:lstStyle/>
            <a:p>
              <a:pPr algn="l">
                <a:lnSpc>
                  <a:spcPts val="4899"/>
                </a:lnSpc>
                <a:spcBef>
                  <a:spcPct val="0"/>
                </a:spcBef>
              </a:pPr>
              <a:r>
                <a:rPr lang="en-US" sz="6000">
                  <a:solidFill>
                    <a:srgbClr val="ECF0F1"/>
                  </a:solidFill>
                  <a:latin typeface="Times New Roman" panose="02020603050405020304" pitchFamily="18" charset="0"/>
                  <a:ea typeface="Inclusive Sans"/>
                  <a:cs typeface="Times New Roman" panose="02020603050405020304" pitchFamily="18" charset="0"/>
                  <a:sym typeface="Inclusive Sans"/>
                </a:rPr>
                <a:t>Đề tài</a:t>
              </a:r>
            </a:p>
          </p:txBody>
        </p:sp>
      </p:grpSp>
      <p:grpSp>
        <p:nvGrpSpPr>
          <p:cNvPr id="12" name="Group 12"/>
          <p:cNvGrpSpPr/>
          <p:nvPr/>
        </p:nvGrpSpPr>
        <p:grpSpPr>
          <a:xfrm>
            <a:off x="13654107" y="7598742"/>
            <a:ext cx="7962900" cy="1090904"/>
            <a:chOff x="0" y="0"/>
            <a:chExt cx="10617200" cy="1454538"/>
          </a:xfrm>
        </p:grpSpPr>
        <p:sp>
          <p:nvSpPr>
            <p:cNvPr id="13" name="TextBox 13"/>
            <p:cNvSpPr txBox="1"/>
            <p:nvPr/>
          </p:nvSpPr>
          <p:spPr>
            <a:xfrm>
              <a:off x="0" y="-66675"/>
              <a:ext cx="10617200" cy="676275"/>
            </a:xfrm>
            <a:prstGeom prst="rect">
              <a:avLst/>
            </a:prstGeom>
          </p:spPr>
          <p:txBody>
            <a:bodyPr lIns="0" tIns="0" rIns="0" bIns="0" rtlCol="0" anchor="t">
              <a:spAutoFit/>
            </a:bodyPr>
            <a:lstStyle/>
            <a:p>
              <a:pPr marL="0" lvl="0" indent="0" algn="l">
                <a:lnSpc>
                  <a:spcPts val="4200"/>
                </a:lnSpc>
              </a:pPr>
              <a:endParaRPr/>
            </a:p>
          </p:txBody>
        </p:sp>
        <p:sp>
          <p:nvSpPr>
            <p:cNvPr id="14" name="TextBox 14"/>
            <p:cNvSpPr txBox="1"/>
            <p:nvPr/>
          </p:nvSpPr>
          <p:spPr>
            <a:xfrm>
              <a:off x="0" y="680896"/>
              <a:ext cx="10617200" cy="773643"/>
            </a:xfrm>
            <a:prstGeom prst="rect">
              <a:avLst/>
            </a:prstGeom>
          </p:spPr>
          <p:txBody>
            <a:bodyPr lIns="0" tIns="0" rIns="0" bIns="0" rtlCol="0" anchor="t">
              <a:spAutoFit/>
            </a:bodyPr>
            <a:lstStyle/>
            <a:p>
              <a:pPr algn="l">
                <a:lnSpc>
                  <a:spcPts val="4899"/>
                </a:lnSpc>
                <a:spcBef>
                  <a:spcPct val="0"/>
                </a:spcBef>
              </a:pPr>
              <a:r>
                <a:rPr lang="en-US" sz="3499">
                  <a:solidFill>
                    <a:srgbClr val="ECF0F1"/>
                  </a:solidFill>
                  <a:latin typeface="Inclusive Sans"/>
                  <a:ea typeface="Inclusive Sans"/>
                  <a:cs typeface="Inclusive Sans"/>
                  <a:sym typeface="Inclusive Sans"/>
                </a:rPr>
                <a:t>Mã đề tài : 05</a:t>
              </a:r>
            </a:p>
          </p:txBody>
        </p:sp>
      </p:grpSp>
      <p:sp>
        <p:nvSpPr>
          <p:cNvPr id="15" name="TextBox 15"/>
          <p:cNvSpPr txBox="1"/>
          <p:nvPr/>
        </p:nvSpPr>
        <p:spPr>
          <a:xfrm>
            <a:off x="1175663" y="1751059"/>
            <a:ext cx="16592550" cy="2399439"/>
          </a:xfrm>
          <a:prstGeom prst="rect">
            <a:avLst/>
          </a:prstGeom>
        </p:spPr>
        <p:txBody>
          <a:bodyPr lIns="0" tIns="0" rIns="0" bIns="0" rtlCol="0" anchor="t">
            <a:spAutoFit/>
          </a:bodyPr>
          <a:lstStyle/>
          <a:p>
            <a:pPr algn="ctr">
              <a:lnSpc>
                <a:spcPct val="150000"/>
              </a:lnSpc>
            </a:pPr>
            <a:r>
              <a:rPr lang="en-US" sz="5400" b="1">
                <a:solidFill>
                  <a:srgbClr val="ECF0F1"/>
                </a:solidFill>
                <a:latin typeface="Times New Roman" panose="02020603050405020304" pitchFamily="18" charset="0"/>
                <a:ea typeface="Inclusive Sans"/>
                <a:cs typeface="Times New Roman" panose="02020603050405020304" pitchFamily="18" charset="0"/>
                <a:sym typeface="Inclusive Sans"/>
              </a:rPr>
              <a:t>Báo cáo kết thúc môn:</a:t>
            </a:r>
          </a:p>
          <a:p>
            <a:pPr marL="0" lvl="0" indent="0" algn="ctr">
              <a:lnSpc>
                <a:spcPct val="150000"/>
              </a:lnSpc>
            </a:pPr>
            <a:r>
              <a:rPr lang="en-US" sz="5674" b="1">
                <a:solidFill>
                  <a:srgbClr val="ECF0F1"/>
                </a:solidFill>
                <a:latin typeface="Times New Roman" panose="02020603050405020304" pitchFamily="18" charset="0"/>
                <a:ea typeface="Inclusive Sans"/>
                <a:cs typeface="Times New Roman" panose="02020603050405020304" pitchFamily="18" charset="0"/>
                <a:sym typeface="Inclusive Sans"/>
              </a:rPr>
              <a:t>Phát Triển Ứng Dựng Web Với Mã Nguồn Mở</a:t>
            </a:r>
          </a:p>
        </p:txBody>
      </p:sp>
      <p:sp>
        <p:nvSpPr>
          <p:cNvPr id="16" name="TextBox 16"/>
          <p:cNvSpPr txBox="1"/>
          <p:nvPr/>
        </p:nvSpPr>
        <p:spPr>
          <a:xfrm>
            <a:off x="246091" y="9397270"/>
            <a:ext cx="929572"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1/20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10199615" y="0"/>
            <a:ext cx="8088385" cy="10287000"/>
            <a:chOff x="0" y="0"/>
            <a:chExt cx="2130274" cy="2709333"/>
          </a:xfrm>
        </p:grpSpPr>
        <p:sp>
          <p:nvSpPr>
            <p:cNvPr id="3" name="Freeform 3"/>
            <p:cNvSpPr/>
            <p:nvPr/>
          </p:nvSpPr>
          <p:spPr>
            <a:xfrm>
              <a:off x="0" y="0"/>
              <a:ext cx="2130274" cy="2709333"/>
            </a:xfrm>
            <a:custGeom>
              <a:avLst/>
              <a:gdLst/>
              <a:ahLst/>
              <a:cxnLst/>
              <a:rect l="l" t="t" r="r" b="b"/>
              <a:pathLst>
                <a:path w="2130274" h="2709333">
                  <a:moveTo>
                    <a:pt x="0" y="0"/>
                  </a:moveTo>
                  <a:lnTo>
                    <a:pt x="2130274" y="0"/>
                  </a:lnTo>
                  <a:lnTo>
                    <a:pt x="2130274" y="2709333"/>
                  </a:lnTo>
                  <a:lnTo>
                    <a:pt x="0" y="2709333"/>
                  </a:lnTo>
                  <a:close/>
                </a:path>
              </a:pathLst>
            </a:custGeom>
            <a:solidFill>
              <a:srgbClr val="ECF0F1"/>
            </a:solidFill>
          </p:spPr>
          <p:txBody>
            <a:bodyPr/>
            <a:lstStyle/>
            <a:p>
              <a:endParaRPr lang="en-US"/>
            </a:p>
          </p:txBody>
        </p:sp>
        <p:sp>
          <p:nvSpPr>
            <p:cNvPr id="4" name="TextBox 4"/>
            <p:cNvSpPr txBox="1"/>
            <p:nvPr/>
          </p:nvSpPr>
          <p:spPr>
            <a:xfrm>
              <a:off x="0" y="-57150"/>
              <a:ext cx="2130274" cy="2766483"/>
            </a:xfrm>
            <a:prstGeom prst="rect">
              <a:avLst/>
            </a:prstGeom>
          </p:spPr>
          <p:txBody>
            <a:bodyPr lIns="50800" tIns="50800" rIns="50800" bIns="50800" rtlCol="0" anchor="ctr"/>
            <a:lstStyle/>
            <a:p>
              <a:pPr algn="ctr">
                <a:lnSpc>
                  <a:spcPts val="3640"/>
                </a:lnSpc>
              </a:pPr>
              <a:endParaRPr>
                <a:latin typeface="Times New Roman" panose="02020603050405020304" pitchFamily="18" charset="0"/>
                <a:cs typeface="Times New Roman" panose="02020603050405020304" pitchFamily="18" charset="0"/>
              </a:endParaRPr>
            </a:p>
          </p:txBody>
        </p:sp>
      </p:grpSp>
      <p:sp>
        <p:nvSpPr>
          <p:cNvPr id="5" name="TextBox 5"/>
          <p:cNvSpPr txBox="1"/>
          <p:nvPr/>
        </p:nvSpPr>
        <p:spPr>
          <a:xfrm>
            <a:off x="969635" y="647700"/>
            <a:ext cx="8934450" cy="1154162"/>
          </a:xfrm>
          <a:prstGeom prst="rect">
            <a:avLst/>
          </a:prstGeom>
        </p:spPr>
        <p:txBody>
          <a:bodyPr wrap="square" lIns="0" tIns="0" rIns="0" bIns="0" rtlCol="0" anchor="t">
            <a:spAutoFit/>
          </a:bodyPr>
          <a:lstStyle/>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MỤC TIÊU ĐỀ TÀI</a:t>
            </a:r>
          </a:p>
        </p:txBody>
      </p:sp>
      <p:grpSp>
        <p:nvGrpSpPr>
          <p:cNvPr id="6" name="Group 6"/>
          <p:cNvGrpSpPr/>
          <p:nvPr/>
        </p:nvGrpSpPr>
        <p:grpSpPr>
          <a:xfrm>
            <a:off x="858104" y="1940978"/>
            <a:ext cx="9140804" cy="6405041"/>
            <a:chOff x="0" y="-9525"/>
            <a:chExt cx="8764776" cy="8540053"/>
          </a:xfrm>
        </p:grpSpPr>
        <p:sp>
          <p:nvSpPr>
            <p:cNvPr id="7" name="TextBox 7"/>
            <p:cNvSpPr txBox="1"/>
            <p:nvPr/>
          </p:nvSpPr>
          <p:spPr>
            <a:xfrm>
              <a:off x="16021" y="70094"/>
              <a:ext cx="8748755" cy="8460434"/>
            </a:xfrm>
            <a:prstGeom prst="rect">
              <a:avLst/>
            </a:prstGeom>
          </p:spPr>
          <p:txBody>
            <a:bodyPr lIns="0" tIns="0" rIns="0" bIns="0" rtlCol="0" anchor="t">
              <a:spAutoFit/>
            </a:bodyPr>
            <a:lstStyle/>
            <a:p>
              <a:pPr marL="497409" lvl="1" indent="-248705" algn="just">
                <a:lnSpc>
                  <a:spcPct val="150000"/>
                </a:lnSpc>
                <a:buFont typeface="Arial"/>
                <a:buChar char="•"/>
              </a:pPr>
              <a:r>
                <a:rPr lang="en-US" sz="3200" b="1">
                  <a:solidFill>
                    <a:srgbClr val="ECF0F1"/>
                  </a:solidFill>
                  <a:latin typeface="Times New Roman" panose="02020603050405020304" pitchFamily="18" charset="0"/>
                  <a:ea typeface="Inclusive Sans Bold"/>
                  <a:cs typeface="Times New Roman" panose="02020603050405020304" pitchFamily="18" charset="0"/>
                  <a:sym typeface="Inclusive Sans Bold"/>
                </a:rPr>
                <a:t>Mục tiêu chính của đề tài là xây dựng một website bán trang sức hoạt động ổn định và dễ sử dụng.</a:t>
              </a:r>
            </a:p>
            <a:p>
              <a:pPr marL="497409" lvl="1" indent="-248705" algn="just">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H</a:t>
              </a:r>
              <a:r>
                <a:rPr lang="en-US" sz="3200" b="1">
                  <a:solidFill>
                    <a:srgbClr val="ECF0F1"/>
                  </a:solidFill>
                  <a:latin typeface="Times New Roman" panose="02020603050405020304" pitchFamily="18" charset="0"/>
                  <a:ea typeface="Inclusive Sans Bold"/>
                  <a:cs typeface="Times New Roman" panose="02020603050405020304" pitchFamily="18" charset="0"/>
                  <a:sym typeface="Inclusive Sans Bold"/>
                </a:rPr>
                <a:t>ệ thống cho phép khách hàng xem sản phẩm, đặt hàng trực tuyến.</a:t>
              </a:r>
            </a:p>
            <a:p>
              <a:pPr marL="497409" lvl="1" indent="-248705" algn="just">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Đ</a:t>
              </a:r>
              <a:r>
                <a:rPr lang="en-US" sz="3200" b="1">
                  <a:solidFill>
                    <a:srgbClr val="ECF0F1"/>
                  </a:solidFill>
                  <a:latin typeface="Times New Roman" panose="02020603050405020304" pitchFamily="18" charset="0"/>
                  <a:ea typeface="Inclusive Sans Bold"/>
                  <a:cs typeface="Times New Roman" panose="02020603050405020304" pitchFamily="18" charset="0"/>
                  <a:sym typeface="Inclusive Sans Bold"/>
                </a:rPr>
                <a:t>ồng thời, quản trị viên có thể quản lý sản phẩm, danh mục, đơn hàng và người dùng một cách thuận tiện.</a:t>
              </a:r>
            </a:p>
            <a:p>
              <a:pPr algn="just">
                <a:lnSpc>
                  <a:spcPts val="3363"/>
                </a:lnSpc>
              </a:pPr>
              <a:endParaRPr lang="en-US" sz="3200" b="1">
                <a:solidFill>
                  <a:srgbClr val="ECF0F1"/>
                </a:solidFill>
                <a:latin typeface="Times New Roman" panose="02020603050405020304" pitchFamily="18" charset="0"/>
                <a:ea typeface="Inclusive Sans Bold"/>
                <a:cs typeface="Times New Roman" panose="02020603050405020304" pitchFamily="18" charset="0"/>
                <a:sym typeface="Inclusive Sans Bold"/>
              </a:endParaRPr>
            </a:p>
          </p:txBody>
        </p:sp>
        <p:sp>
          <p:nvSpPr>
            <p:cNvPr id="8" name="TextBox 8"/>
            <p:cNvSpPr txBox="1"/>
            <p:nvPr/>
          </p:nvSpPr>
          <p:spPr>
            <a:xfrm>
              <a:off x="0" y="-9525"/>
              <a:ext cx="7264400" cy="619125"/>
            </a:xfrm>
            <a:prstGeom prst="rect">
              <a:avLst/>
            </a:prstGeom>
          </p:spPr>
          <p:txBody>
            <a:bodyPr lIns="0" tIns="0" rIns="0" bIns="0" rtlCol="0" anchor="t">
              <a:spAutoFit/>
            </a:bodyPr>
            <a:lstStyle/>
            <a:p>
              <a:pPr marL="0" lvl="0" indent="0" algn="l">
                <a:lnSpc>
                  <a:spcPts val="3600"/>
                </a:lnSpc>
              </a:pPr>
              <a:endParaRPr>
                <a:latin typeface="Times New Roman" panose="02020603050405020304" pitchFamily="18" charset="0"/>
                <a:cs typeface="Times New Roman" panose="02020603050405020304" pitchFamily="18" charset="0"/>
              </a:endParaRPr>
            </a:p>
          </p:txBody>
        </p:sp>
      </p:grpSp>
      <p:grpSp>
        <p:nvGrpSpPr>
          <p:cNvPr id="9" name="Group 9"/>
          <p:cNvGrpSpPr/>
          <p:nvPr/>
        </p:nvGrpSpPr>
        <p:grpSpPr>
          <a:xfrm>
            <a:off x="11002439" y="318875"/>
            <a:ext cx="6482737" cy="9649249"/>
            <a:chOff x="0" y="0"/>
            <a:chExt cx="814724" cy="1212679"/>
          </a:xfrm>
        </p:grpSpPr>
        <p:sp>
          <p:nvSpPr>
            <p:cNvPr id="10" name="Freeform 10"/>
            <p:cNvSpPr/>
            <p:nvPr/>
          </p:nvSpPr>
          <p:spPr>
            <a:xfrm>
              <a:off x="0" y="0"/>
              <a:ext cx="814724" cy="1212679"/>
            </a:xfrm>
            <a:custGeom>
              <a:avLst/>
              <a:gdLst/>
              <a:ahLst/>
              <a:cxnLst/>
              <a:rect l="l" t="t" r="r" b="b"/>
              <a:pathLst>
                <a:path w="814724" h="1212679">
                  <a:moveTo>
                    <a:pt x="23885" y="0"/>
                  </a:moveTo>
                  <a:lnTo>
                    <a:pt x="790840" y="0"/>
                  </a:lnTo>
                  <a:cubicBezTo>
                    <a:pt x="804031" y="0"/>
                    <a:pt x="814724" y="10694"/>
                    <a:pt x="814724" y="23885"/>
                  </a:cubicBezTo>
                  <a:lnTo>
                    <a:pt x="814724" y="1188794"/>
                  </a:lnTo>
                  <a:cubicBezTo>
                    <a:pt x="814724" y="1201985"/>
                    <a:pt x="804031" y="1212679"/>
                    <a:pt x="790840" y="1212679"/>
                  </a:cubicBezTo>
                  <a:lnTo>
                    <a:pt x="23885" y="1212679"/>
                  </a:lnTo>
                  <a:cubicBezTo>
                    <a:pt x="10694" y="1212679"/>
                    <a:pt x="0" y="1201985"/>
                    <a:pt x="0" y="1188794"/>
                  </a:cubicBezTo>
                  <a:lnTo>
                    <a:pt x="0" y="23885"/>
                  </a:lnTo>
                  <a:cubicBezTo>
                    <a:pt x="0" y="10694"/>
                    <a:pt x="10694" y="0"/>
                    <a:pt x="23885" y="0"/>
                  </a:cubicBezTo>
                  <a:close/>
                </a:path>
              </a:pathLst>
            </a:custGeom>
            <a:blipFill>
              <a:blip r:embed="rId2"/>
              <a:stretch>
                <a:fillRect t="-2487" b="-2487"/>
              </a:stretch>
            </a:blipFill>
          </p:spPr>
          <p:txBody>
            <a:bodyPr/>
            <a:lstStyle/>
            <a:p>
              <a:endParaRPr lang="en-US"/>
            </a:p>
          </p:txBody>
        </p:sp>
      </p:grpSp>
      <p:sp>
        <p:nvSpPr>
          <p:cNvPr id="11" name="Freeform 11"/>
          <p:cNvSpPr/>
          <p:nvPr/>
        </p:nvSpPr>
        <p:spPr>
          <a:xfrm>
            <a:off x="0" y="9632031"/>
            <a:ext cx="10199615" cy="667501"/>
          </a:xfrm>
          <a:custGeom>
            <a:avLst/>
            <a:gdLst/>
            <a:ahLst/>
            <a:cxnLst/>
            <a:rect l="l" t="t" r="r" b="b"/>
            <a:pathLst>
              <a:path w="10199615" h="667501">
                <a:moveTo>
                  <a:pt x="0" y="0"/>
                </a:moveTo>
                <a:lnTo>
                  <a:pt x="10199615" y="0"/>
                </a:lnTo>
                <a:lnTo>
                  <a:pt x="10199615" y="667501"/>
                </a:lnTo>
                <a:lnTo>
                  <a:pt x="0" y="667501"/>
                </a:lnTo>
                <a:lnTo>
                  <a:pt x="0" y="0"/>
                </a:lnTo>
                <a:close/>
              </a:path>
            </a:pathLst>
          </a:custGeom>
          <a:blipFill>
            <a:blip r:embed="rId3"/>
            <a:stretch>
              <a:fillRect t="-25215" r="-1684" b="-30160"/>
            </a:stretch>
          </a:blipFill>
        </p:spPr>
        <p:txBody>
          <a:bodyPr/>
          <a:lstStyle/>
          <a:p>
            <a:endParaRPr lang="en-US"/>
          </a:p>
        </p:txBody>
      </p:sp>
      <p:sp>
        <p:nvSpPr>
          <p:cNvPr id="12" name="TextBox 12"/>
          <p:cNvSpPr txBox="1"/>
          <p:nvPr/>
        </p:nvSpPr>
        <p:spPr>
          <a:xfrm>
            <a:off x="122695" y="9670507"/>
            <a:ext cx="735409" cy="494110"/>
          </a:xfrm>
          <a:prstGeom prst="rect">
            <a:avLst/>
          </a:prstGeom>
        </p:spPr>
        <p:txBody>
          <a:bodyPr lIns="0" tIns="0" rIns="0" bIns="0" rtlCol="0" anchor="t">
            <a:spAutoFit/>
          </a:bodyPr>
          <a:lstStyle/>
          <a:p>
            <a:pPr algn="ctr">
              <a:lnSpc>
                <a:spcPts val="4200"/>
              </a:lnSpc>
              <a:spcBef>
                <a:spcPct val="0"/>
              </a:spcBef>
            </a:pPr>
            <a:r>
              <a:rPr lang="en-US" sz="3000" spc="-60" dirty="0">
                <a:solidFill>
                  <a:srgbClr val="ECF0F1"/>
                </a:solidFill>
                <a:latin typeface="Times New Roman" panose="02020603050405020304" pitchFamily="18" charset="0"/>
                <a:ea typeface="Inclusive Sans"/>
                <a:cs typeface="Times New Roman" panose="02020603050405020304" pitchFamily="18" charset="0"/>
                <a:sym typeface="Inclusive Sans"/>
              </a:rPr>
              <a:t>2/20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13567228" y="0"/>
            <a:ext cx="4720772" cy="10287000"/>
            <a:chOff x="0" y="0"/>
            <a:chExt cx="2475022" cy="2709333"/>
          </a:xfrm>
        </p:grpSpPr>
        <p:sp>
          <p:nvSpPr>
            <p:cNvPr id="3" name="Freeform 3"/>
            <p:cNvSpPr/>
            <p:nvPr/>
          </p:nvSpPr>
          <p:spPr>
            <a:xfrm>
              <a:off x="0" y="0"/>
              <a:ext cx="2475022" cy="2709333"/>
            </a:xfrm>
            <a:custGeom>
              <a:avLst/>
              <a:gdLst/>
              <a:ahLst/>
              <a:cxnLst/>
              <a:rect l="l" t="t" r="r" b="b"/>
              <a:pathLst>
                <a:path w="2475022" h="2709333">
                  <a:moveTo>
                    <a:pt x="0" y="0"/>
                  </a:moveTo>
                  <a:lnTo>
                    <a:pt x="2475022" y="0"/>
                  </a:lnTo>
                  <a:lnTo>
                    <a:pt x="2475022" y="2709333"/>
                  </a:lnTo>
                  <a:lnTo>
                    <a:pt x="0" y="2709333"/>
                  </a:lnTo>
                  <a:close/>
                </a:path>
              </a:pathLst>
            </a:custGeom>
            <a:solidFill>
              <a:srgbClr val="2980B9"/>
            </a:solidFill>
          </p:spPr>
          <p:txBody>
            <a:bodyPr/>
            <a:lstStyle/>
            <a:p>
              <a:endParaRPr lang="en-US"/>
            </a:p>
          </p:txBody>
        </p:sp>
        <p:sp>
          <p:nvSpPr>
            <p:cNvPr id="4" name="TextBox 4"/>
            <p:cNvSpPr txBox="1"/>
            <p:nvPr/>
          </p:nvSpPr>
          <p:spPr>
            <a:xfrm>
              <a:off x="0" y="-57150"/>
              <a:ext cx="2475022" cy="2766483"/>
            </a:xfrm>
            <a:prstGeom prst="rect">
              <a:avLst/>
            </a:prstGeom>
          </p:spPr>
          <p:txBody>
            <a:bodyPr lIns="50800" tIns="50800" rIns="50800" bIns="50800" rtlCol="0" anchor="ctr"/>
            <a:lstStyle/>
            <a:p>
              <a:pPr algn="ctr">
                <a:lnSpc>
                  <a:spcPts val="3640"/>
                </a:lnSpc>
              </a:pPr>
              <a:endParaRPr>
                <a:latin typeface="Times New Roman" panose="02020603050405020304" pitchFamily="18" charset="0"/>
                <a:cs typeface="Times New Roman" panose="02020603050405020304" pitchFamily="18" charset="0"/>
              </a:endParaRPr>
            </a:p>
          </p:txBody>
        </p:sp>
      </p:grpSp>
      <p:sp>
        <p:nvSpPr>
          <p:cNvPr id="5" name="TextBox 5"/>
          <p:cNvSpPr txBox="1"/>
          <p:nvPr/>
        </p:nvSpPr>
        <p:spPr>
          <a:xfrm>
            <a:off x="165459" y="1105854"/>
            <a:ext cx="13401769" cy="1013098"/>
          </a:xfrm>
          <a:prstGeom prst="rect">
            <a:avLst/>
          </a:prstGeom>
        </p:spPr>
        <p:txBody>
          <a:bodyPr wrap="square" lIns="0" tIns="0" rIns="0" bIns="0" rtlCol="0" anchor="t">
            <a:spAutoFit/>
          </a:bodyPr>
          <a:lstStyle/>
          <a:p>
            <a:pPr marL="0" lvl="0" indent="0" algn="l">
              <a:lnSpc>
                <a:spcPts val="787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ĐỐI TƯỢNG NGHIÊN CỨU</a:t>
            </a:r>
          </a:p>
        </p:txBody>
      </p:sp>
      <p:sp>
        <p:nvSpPr>
          <p:cNvPr id="7" name="TextBox 7"/>
          <p:cNvSpPr txBox="1"/>
          <p:nvPr/>
        </p:nvSpPr>
        <p:spPr>
          <a:xfrm>
            <a:off x="1170539" y="3233877"/>
            <a:ext cx="10058400" cy="3693319"/>
          </a:xfrm>
          <a:prstGeom prst="rect">
            <a:avLst/>
          </a:prstGeom>
        </p:spPr>
        <p:txBody>
          <a:bodyPr wrap="square" lIns="0" tIns="0" rIns="0" bIns="0" rtlCol="0" anchor="t">
            <a:spAutoFit/>
          </a:bodyPr>
          <a:lstStyle/>
          <a:p>
            <a:pPr marL="561337" lvl="1" indent="-280669"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Mô hình hoạt động của website bán trang sức</a:t>
            </a:r>
          </a:p>
          <a:p>
            <a:pPr marL="561337" lvl="1" indent="-280669"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Chức năng của hệ thống bán hàng trực tuyến</a:t>
            </a:r>
          </a:p>
          <a:p>
            <a:pPr marL="561337" lvl="1" indent="-280669"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Dữ liệu và quy trình xử lý trong hệ thống</a:t>
            </a:r>
          </a:p>
          <a:p>
            <a:pPr marL="561337" lvl="1" indent="-280669"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Người dùng hệ thống (khách hàng, quản trị viên)</a:t>
            </a:r>
          </a:p>
          <a:p>
            <a:pPr marL="0" lvl="0" indent="0" algn="l">
              <a:lnSpc>
                <a:spcPct val="150000"/>
              </a:lnSpc>
            </a:pPr>
            <a:endParaRPr lang="en-US" sz="32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grpSp>
        <p:nvGrpSpPr>
          <p:cNvPr id="9" name="Group 9"/>
          <p:cNvGrpSpPr/>
          <p:nvPr/>
        </p:nvGrpSpPr>
        <p:grpSpPr>
          <a:xfrm>
            <a:off x="13774504" y="526937"/>
            <a:ext cx="4306220" cy="9233126"/>
            <a:chOff x="0" y="0"/>
            <a:chExt cx="1078972" cy="1227593"/>
          </a:xfrm>
        </p:grpSpPr>
        <p:sp>
          <p:nvSpPr>
            <p:cNvPr id="10" name="Freeform 10"/>
            <p:cNvSpPr/>
            <p:nvPr/>
          </p:nvSpPr>
          <p:spPr>
            <a:xfrm>
              <a:off x="0" y="0"/>
              <a:ext cx="1078972" cy="1227593"/>
            </a:xfrm>
            <a:custGeom>
              <a:avLst/>
              <a:gdLst/>
              <a:ahLst/>
              <a:cxnLst/>
              <a:rect l="l" t="t" r="r" b="b"/>
              <a:pathLst>
                <a:path w="1078972" h="1227593">
                  <a:moveTo>
                    <a:pt x="47700" y="0"/>
                  </a:moveTo>
                  <a:lnTo>
                    <a:pt x="1031273" y="0"/>
                  </a:lnTo>
                  <a:cubicBezTo>
                    <a:pt x="1043923" y="0"/>
                    <a:pt x="1056056" y="5025"/>
                    <a:pt x="1065001" y="13971"/>
                  </a:cubicBezTo>
                  <a:cubicBezTo>
                    <a:pt x="1073947" y="22916"/>
                    <a:pt x="1078972" y="35049"/>
                    <a:pt x="1078972" y="47700"/>
                  </a:cubicBezTo>
                  <a:lnTo>
                    <a:pt x="1078972" y="1179894"/>
                  </a:lnTo>
                  <a:cubicBezTo>
                    <a:pt x="1078972" y="1192544"/>
                    <a:pt x="1073947" y="1204677"/>
                    <a:pt x="1065001" y="1213622"/>
                  </a:cubicBezTo>
                  <a:cubicBezTo>
                    <a:pt x="1056056" y="1222568"/>
                    <a:pt x="1043923" y="1227593"/>
                    <a:pt x="1031273" y="1227593"/>
                  </a:cubicBezTo>
                  <a:lnTo>
                    <a:pt x="47700" y="1227593"/>
                  </a:lnTo>
                  <a:cubicBezTo>
                    <a:pt x="35049" y="1227593"/>
                    <a:pt x="22916" y="1222568"/>
                    <a:pt x="13971" y="1213622"/>
                  </a:cubicBezTo>
                  <a:cubicBezTo>
                    <a:pt x="5025" y="1204677"/>
                    <a:pt x="0" y="1192544"/>
                    <a:pt x="0" y="1179894"/>
                  </a:cubicBezTo>
                  <a:lnTo>
                    <a:pt x="0" y="47700"/>
                  </a:lnTo>
                  <a:cubicBezTo>
                    <a:pt x="0" y="35049"/>
                    <a:pt x="5025" y="22916"/>
                    <a:pt x="13971" y="13971"/>
                  </a:cubicBezTo>
                  <a:cubicBezTo>
                    <a:pt x="22916" y="5025"/>
                    <a:pt x="35049" y="0"/>
                    <a:pt x="47700" y="0"/>
                  </a:cubicBezTo>
                  <a:close/>
                </a:path>
              </a:pathLst>
            </a:custGeom>
            <a:blipFill>
              <a:blip r:embed="rId2"/>
              <a:stretch>
                <a:fillRect t="-296" b="-296"/>
              </a:stretch>
            </a:blipFill>
            <a:ln w="38100" cap="rnd">
              <a:solidFill>
                <a:srgbClr val="000000"/>
              </a:solidFill>
              <a:prstDash val="solid"/>
              <a:round/>
            </a:ln>
          </p:spPr>
          <p:txBody>
            <a:bodyPr/>
            <a:lstStyle/>
            <a:p>
              <a:endParaRPr lang="en-US"/>
            </a:p>
          </p:txBody>
        </p:sp>
      </p:grpSp>
      <p:sp>
        <p:nvSpPr>
          <p:cNvPr id="11" name="Freeform 11"/>
          <p:cNvSpPr/>
          <p:nvPr/>
        </p:nvSpPr>
        <p:spPr>
          <a:xfrm>
            <a:off x="0" y="9632031"/>
            <a:ext cx="13567228" cy="667501"/>
          </a:xfrm>
          <a:custGeom>
            <a:avLst/>
            <a:gdLst/>
            <a:ahLst/>
            <a:cxnLst/>
            <a:rect l="l" t="t" r="r" b="b"/>
            <a:pathLst>
              <a:path w="8890649" h="667501">
                <a:moveTo>
                  <a:pt x="0" y="0"/>
                </a:moveTo>
                <a:lnTo>
                  <a:pt x="8890649" y="0"/>
                </a:lnTo>
                <a:lnTo>
                  <a:pt x="8890649" y="667501"/>
                </a:lnTo>
                <a:lnTo>
                  <a:pt x="0" y="667501"/>
                </a:lnTo>
                <a:lnTo>
                  <a:pt x="0" y="0"/>
                </a:lnTo>
                <a:close/>
              </a:path>
            </a:pathLst>
          </a:custGeom>
          <a:blipFill>
            <a:blip r:embed="rId3"/>
            <a:stretch>
              <a:fillRect t="-25215" r="-16654" b="-30160"/>
            </a:stretch>
          </a:blipFill>
        </p:spPr>
        <p:txBody>
          <a:bodyPr/>
          <a:lstStyle/>
          <a:p>
            <a:endParaRPr lang="en-US"/>
          </a:p>
        </p:txBody>
      </p:sp>
      <p:sp>
        <p:nvSpPr>
          <p:cNvPr id="12" name="TextBox 12"/>
          <p:cNvSpPr txBox="1"/>
          <p:nvPr/>
        </p:nvSpPr>
        <p:spPr>
          <a:xfrm>
            <a:off x="147316" y="9670507"/>
            <a:ext cx="746390" cy="494110"/>
          </a:xfrm>
          <a:prstGeom prst="rect">
            <a:avLst/>
          </a:prstGeom>
        </p:spPr>
        <p:txBody>
          <a:bodyPr lIns="0" tIns="0" rIns="0" bIns="0" rtlCol="0" anchor="t">
            <a:spAutoFit/>
          </a:bodyPr>
          <a:lstStyle/>
          <a:p>
            <a:pPr algn="ctr">
              <a:lnSpc>
                <a:spcPts val="4200"/>
              </a:lnSpc>
              <a:spcBef>
                <a:spcPct val="0"/>
              </a:spcBef>
            </a:pPr>
            <a:r>
              <a:rPr lang="en-US" sz="3000" spc="-60" dirty="0">
                <a:solidFill>
                  <a:srgbClr val="ECF0F1"/>
                </a:solidFill>
                <a:latin typeface="Times New Roman" panose="02020603050405020304" pitchFamily="18" charset="0"/>
                <a:ea typeface="Inclusive Sans"/>
                <a:cs typeface="Times New Roman" panose="02020603050405020304" pitchFamily="18" charset="0"/>
                <a:sym typeface="Inclusive Sans"/>
              </a:rPr>
              <a:t>3/20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extBox 2"/>
          <p:cNvSpPr txBox="1"/>
          <p:nvPr/>
        </p:nvSpPr>
        <p:spPr>
          <a:xfrm>
            <a:off x="1028700" y="952996"/>
            <a:ext cx="15548305" cy="2308324"/>
          </a:xfrm>
          <a:prstGeom prst="rect">
            <a:avLst/>
          </a:prstGeom>
        </p:spPr>
        <p:txBody>
          <a:bodyPr lIns="0" tIns="0" rIns="0" bIns="0" rtlCol="0" anchor="t">
            <a:spAutoFit/>
          </a:bodyPr>
          <a:lstStyle/>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PHẠM VI NGHIÊM CỨU</a:t>
            </a:r>
          </a:p>
          <a:p>
            <a:pPr marL="0" lvl="0" indent="0" algn="l">
              <a:lnSpc>
                <a:spcPts val="9000"/>
              </a:lnSpc>
            </a:pPr>
            <a:endParaRPr lang="en-US" sz="8000" b="1">
              <a:solidFill>
                <a:srgbClr val="ECF0F1"/>
              </a:solidFill>
              <a:latin typeface="Times New Roman" panose="02020603050405020304" pitchFamily="18" charset="0"/>
              <a:ea typeface="Lovelace Text"/>
              <a:cs typeface="Times New Roman" panose="02020603050405020304" pitchFamily="18" charset="0"/>
              <a:sym typeface="Lovelace Text"/>
            </a:endParaRPr>
          </a:p>
        </p:txBody>
      </p:sp>
      <p:sp>
        <p:nvSpPr>
          <p:cNvPr id="3" name="TextBox 3"/>
          <p:cNvSpPr txBox="1"/>
          <p:nvPr/>
        </p:nvSpPr>
        <p:spPr>
          <a:xfrm>
            <a:off x="2085002" y="2950896"/>
            <a:ext cx="13022729" cy="4431983"/>
          </a:xfrm>
          <a:prstGeom prst="rect">
            <a:avLst/>
          </a:prstGeom>
        </p:spPr>
        <p:txBody>
          <a:bodyPr wrap="square" lIns="0" tIns="0" rIns="0" bIns="0" rtlCol="0" anchor="t">
            <a:spAutoFit/>
          </a:bodyPr>
          <a:lstStyle/>
          <a:p>
            <a:pPr marL="619122" lvl="1" indent="-309561"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Website bán trang sức phục vụ cửa hàng nhỏ và vừa</a:t>
            </a:r>
          </a:p>
          <a:p>
            <a:pPr marL="619122" lvl="1" indent="-309561"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Phạm vi chức năng tập trung vào</a:t>
            </a:r>
          </a:p>
          <a:p>
            <a:pPr marL="619122" lvl="1" indent="-309561"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sản phẩm</a:t>
            </a:r>
          </a:p>
          <a:p>
            <a:pPr marL="619122" lvl="1" indent="-309561"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đơn hàng</a:t>
            </a:r>
          </a:p>
          <a:p>
            <a:pPr marL="619122" lvl="1" indent="-309561"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người dùng</a:t>
            </a:r>
          </a:p>
          <a:p>
            <a:pPr algn="l">
              <a:lnSpc>
                <a:spcPct val="150000"/>
              </a:lnSpc>
            </a:pPr>
            <a:endParaRPr lang="en-US" sz="32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4" name="Freeform 4"/>
          <p:cNvSpPr/>
          <p:nvPr/>
        </p:nvSpPr>
        <p:spPr>
          <a:xfrm>
            <a:off x="-25400" y="9594861"/>
            <a:ext cx="18295257" cy="654969"/>
          </a:xfrm>
          <a:custGeom>
            <a:avLst/>
            <a:gdLst/>
            <a:ahLst/>
            <a:cxnLst/>
            <a:rect l="l" t="t" r="r" b="b"/>
            <a:pathLst>
              <a:path w="19855907" h="654969">
                <a:moveTo>
                  <a:pt x="0" y="0"/>
                </a:moveTo>
                <a:lnTo>
                  <a:pt x="19855907" y="0"/>
                </a:lnTo>
                <a:lnTo>
                  <a:pt x="19855907" y="654969"/>
                </a:lnTo>
                <a:lnTo>
                  <a:pt x="0" y="654969"/>
                </a:lnTo>
                <a:lnTo>
                  <a:pt x="0" y="0"/>
                </a:lnTo>
                <a:close/>
              </a:path>
            </a:pathLst>
          </a:custGeom>
          <a:blipFill>
            <a:blip r:embed="rId2"/>
            <a:stretch>
              <a:fillRect t="-94924" b="-108234"/>
            </a:stretch>
          </a:blipFill>
        </p:spPr>
        <p:txBody>
          <a:bodyPr/>
          <a:lstStyle/>
          <a:p>
            <a:endParaRPr lang="en-US"/>
          </a:p>
        </p:txBody>
      </p:sp>
      <p:sp>
        <p:nvSpPr>
          <p:cNvPr id="5" name="Freeform 5"/>
          <p:cNvSpPr/>
          <p:nvPr/>
        </p:nvSpPr>
        <p:spPr>
          <a:xfrm>
            <a:off x="1028700" y="7399208"/>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178481" y="9652459"/>
            <a:ext cx="760545" cy="494110"/>
          </a:xfrm>
          <a:prstGeom prst="rect">
            <a:avLst/>
          </a:prstGeom>
        </p:spPr>
        <p:txBody>
          <a:bodyPr lIns="0" tIns="0" rIns="0" bIns="0" rtlCol="0" anchor="t">
            <a:spAutoFit/>
          </a:bodyPr>
          <a:lstStyle/>
          <a:p>
            <a:pPr algn="ctr">
              <a:lnSpc>
                <a:spcPts val="4200"/>
              </a:lnSpc>
              <a:spcBef>
                <a:spcPct val="0"/>
              </a:spcBef>
            </a:pPr>
            <a:r>
              <a:rPr lang="en-US" sz="3000" spc="-60" dirty="0">
                <a:solidFill>
                  <a:srgbClr val="ECF0F1"/>
                </a:solidFill>
                <a:latin typeface="Times New Roman" panose="02020603050405020304" pitchFamily="18" charset="0"/>
                <a:ea typeface="Inclusive Sans"/>
                <a:cs typeface="Times New Roman" panose="02020603050405020304" pitchFamily="18" charset="0"/>
                <a:sym typeface="Inclusive Sans"/>
              </a:rPr>
              <a:t>4/20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12036012" y="1864072"/>
            <a:ext cx="6585364" cy="8118108"/>
            <a:chOff x="-180653" y="-57150"/>
            <a:chExt cx="2348483" cy="2766483"/>
          </a:xfrm>
        </p:grpSpPr>
        <p:sp>
          <p:nvSpPr>
            <p:cNvPr id="3" name="Freeform 3"/>
            <p:cNvSpPr/>
            <p:nvPr/>
          </p:nvSpPr>
          <p:spPr>
            <a:xfrm>
              <a:off x="-180653" y="-44430"/>
              <a:ext cx="2167830" cy="2709333"/>
            </a:xfrm>
            <a:custGeom>
              <a:avLst/>
              <a:gdLst/>
              <a:ahLst/>
              <a:cxnLst/>
              <a:rect l="l" t="t" r="r" b="b"/>
              <a:pathLst>
                <a:path w="2167830" h="2709333">
                  <a:moveTo>
                    <a:pt x="0" y="0"/>
                  </a:moveTo>
                  <a:lnTo>
                    <a:pt x="2167830" y="0"/>
                  </a:lnTo>
                  <a:lnTo>
                    <a:pt x="2167830" y="2709333"/>
                  </a:lnTo>
                  <a:lnTo>
                    <a:pt x="0" y="2709333"/>
                  </a:lnTo>
                  <a:close/>
                </a:path>
              </a:pathLst>
            </a:custGeom>
            <a:solidFill>
              <a:srgbClr val="2980B9"/>
            </a:solidFill>
          </p:spPr>
          <p:txBody>
            <a:bodyPr/>
            <a:lstStyle/>
            <a:p>
              <a:endParaRPr lang="en-US"/>
            </a:p>
          </p:txBody>
        </p:sp>
        <p:sp>
          <p:nvSpPr>
            <p:cNvPr id="4" name="TextBox 4"/>
            <p:cNvSpPr txBox="1"/>
            <p:nvPr/>
          </p:nvSpPr>
          <p:spPr>
            <a:xfrm>
              <a:off x="0" y="-57150"/>
              <a:ext cx="2167830" cy="2766483"/>
            </a:xfrm>
            <a:prstGeom prst="rect">
              <a:avLst/>
            </a:prstGeom>
          </p:spPr>
          <p:txBody>
            <a:bodyPr lIns="50800" tIns="50800" rIns="50800" bIns="50800" rtlCol="0" anchor="ctr"/>
            <a:lstStyle/>
            <a:p>
              <a:pPr algn="ctr">
                <a:lnSpc>
                  <a:spcPts val="3640"/>
                </a:lnSpc>
              </a:pPr>
              <a:endParaRPr/>
            </a:p>
          </p:txBody>
        </p:sp>
      </p:grpSp>
      <p:sp>
        <p:nvSpPr>
          <p:cNvPr id="5" name="TextBox 5"/>
          <p:cNvSpPr txBox="1"/>
          <p:nvPr/>
        </p:nvSpPr>
        <p:spPr>
          <a:xfrm>
            <a:off x="666750" y="800100"/>
            <a:ext cx="16173450" cy="1949252"/>
          </a:xfrm>
          <a:prstGeom prst="rect">
            <a:avLst/>
          </a:prstGeom>
        </p:spPr>
        <p:txBody>
          <a:bodyPr wrap="square" lIns="0" tIns="0" rIns="0" bIns="0" rtlCol="0" anchor="t">
            <a:spAutoFit/>
          </a:bodyPr>
          <a:lstStyle/>
          <a:p>
            <a:pPr marL="0" lvl="0" indent="0" algn="l">
              <a:lnSpc>
                <a:spcPts val="76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PHƯƠNG PHÁP NGHIÊM CỨU</a:t>
            </a:r>
          </a:p>
          <a:p>
            <a:pPr marL="0" lvl="0" indent="0" algn="l">
              <a:lnSpc>
                <a:spcPts val="7600"/>
              </a:lnSpc>
            </a:pPr>
            <a:endParaRPr lang="en-US" sz="8000" b="1">
              <a:solidFill>
                <a:srgbClr val="ECF0F1"/>
              </a:solidFill>
              <a:latin typeface="Times New Roman" panose="02020603050405020304" pitchFamily="18" charset="0"/>
              <a:ea typeface="Lovelace Text"/>
              <a:cs typeface="Times New Roman" panose="02020603050405020304" pitchFamily="18" charset="0"/>
              <a:sym typeface="Lovelace Text"/>
            </a:endParaRPr>
          </a:p>
        </p:txBody>
      </p:sp>
      <p:sp>
        <p:nvSpPr>
          <p:cNvPr id="6" name="TextBox 6"/>
          <p:cNvSpPr txBox="1"/>
          <p:nvPr/>
        </p:nvSpPr>
        <p:spPr>
          <a:xfrm>
            <a:off x="1269764" y="2476500"/>
            <a:ext cx="10974016" cy="5170646"/>
          </a:xfrm>
          <a:prstGeom prst="rect">
            <a:avLst/>
          </a:prstGeom>
        </p:spPr>
        <p:txBody>
          <a:bodyPr wrap="square" lIns="0" tIns="0" rIns="0" bIns="0" rtlCol="0" anchor="t">
            <a:spAutoFit/>
          </a:bodyPr>
          <a:lstStyle/>
          <a:p>
            <a:pPr marL="582927" lvl="1" indent="-291463"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Thu thập và phân tích yêu cầu hệ thống</a:t>
            </a:r>
          </a:p>
          <a:p>
            <a:pPr marL="582927" lvl="1" indent="-291463"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Mô hình hóa hệ thống bằng ERD/MCD</a:t>
            </a:r>
          </a:p>
          <a:p>
            <a:pPr marL="582927" lvl="1" indent="-291463"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Thiết kế UML: Use Case, Class Diagram, Activity Diagram</a:t>
            </a:r>
          </a:p>
          <a:p>
            <a:pPr marL="582927" lvl="1" indent="-291463"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Thiết kế cơ sở dữ liệu mức vật lý</a:t>
            </a:r>
          </a:p>
          <a:p>
            <a:pPr marL="582927" lvl="1" indent="-291463"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Lập trình và triển khai hệ thống</a:t>
            </a:r>
          </a:p>
          <a:p>
            <a:pPr marL="582927" lvl="1" indent="-291463"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Kiểm thử chức năng và đánh giá kết quả</a:t>
            </a:r>
          </a:p>
          <a:p>
            <a:pPr algn="l">
              <a:lnSpc>
                <a:spcPct val="150000"/>
              </a:lnSpc>
            </a:pPr>
            <a:endParaRPr lang="en-US" sz="32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grpSp>
        <p:nvGrpSpPr>
          <p:cNvPr id="7" name="Group 7"/>
          <p:cNvGrpSpPr/>
          <p:nvPr/>
        </p:nvGrpSpPr>
        <p:grpSpPr>
          <a:xfrm>
            <a:off x="12464318" y="2199950"/>
            <a:ext cx="5222184" cy="7353300"/>
            <a:chOff x="0" y="0"/>
            <a:chExt cx="814724" cy="1267949"/>
          </a:xfrm>
        </p:grpSpPr>
        <p:sp>
          <p:nvSpPr>
            <p:cNvPr id="8" name="Freeform 8"/>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txBody>
            <a:bodyPr/>
            <a:lstStyle/>
            <a:p>
              <a:endParaRPr lang="en-US"/>
            </a:p>
          </p:txBody>
        </p:sp>
      </p:grpSp>
      <p:sp>
        <p:nvSpPr>
          <p:cNvPr id="9" name="Freeform 9"/>
          <p:cNvSpPr/>
          <p:nvPr/>
        </p:nvSpPr>
        <p:spPr>
          <a:xfrm>
            <a:off x="0" y="9639300"/>
            <a:ext cx="18288000" cy="667501"/>
          </a:xfrm>
          <a:custGeom>
            <a:avLst/>
            <a:gdLst/>
            <a:ahLst/>
            <a:cxnLst/>
            <a:rect l="l" t="t" r="r" b="b"/>
            <a:pathLst>
              <a:path w="10057019" h="667501">
                <a:moveTo>
                  <a:pt x="0" y="0"/>
                </a:moveTo>
                <a:lnTo>
                  <a:pt x="10057019" y="0"/>
                </a:lnTo>
                <a:lnTo>
                  <a:pt x="10057019" y="667501"/>
                </a:lnTo>
                <a:lnTo>
                  <a:pt x="0" y="667501"/>
                </a:lnTo>
                <a:lnTo>
                  <a:pt x="0" y="0"/>
                </a:lnTo>
                <a:close/>
              </a:path>
            </a:pathLst>
          </a:custGeom>
          <a:blipFill>
            <a:blip r:embed="rId3"/>
            <a:stretch>
              <a:fillRect t="-25215" r="-3125" b="-30160"/>
            </a:stretch>
          </a:blipFill>
        </p:spPr>
        <p:txBody>
          <a:bodyPr/>
          <a:lstStyle/>
          <a:p>
            <a:endParaRPr lang="en-US"/>
          </a:p>
        </p:txBody>
      </p:sp>
      <p:sp>
        <p:nvSpPr>
          <p:cNvPr id="10" name="TextBox 10"/>
          <p:cNvSpPr txBox="1"/>
          <p:nvPr/>
        </p:nvSpPr>
        <p:spPr>
          <a:xfrm>
            <a:off x="289322" y="9670507"/>
            <a:ext cx="980442"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5/20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grpSp>
        <p:nvGrpSpPr>
          <p:cNvPr id="2" name="Group 2"/>
          <p:cNvGrpSpPr/>
          <p:nvPr/>
        </p:nvGrpSpPr>
        <p:grpSpPr>
          <a:xfrm>
            <a:off x="9067800" y="743236"/>
            <a:ext cx="4010025" cy="2340610"/>
            <a:chOff x="0" y="0"/>
            <a:chExt cx="1029283" cy="600782"/>
          </a:xfrm>
        </p:grpSpPr>
        <p:sp>
          <p:nvSpPr>
            <p:cNvPr id="3" name="Freeform 3"/>
            <p:cNvSpPr/>
            <p:nvPr/>
          </p:nvSpPr>
          <p:spPr>
            <a:xfrm>
              <a:off x="0" y="0"/>
              <a:ext cx="1029283" cy="600782"/>
            </a:xfrm>
            <a:custGeom>
              <a:avLst/>
              <a:gdLst/>
              <a:ahLst/>
              <a:cxnLst/>
              <a:rect l="l" t="t" r="r" b="b"/>
              <a:pathLst>
                <a:path w="1029283" h="600782">
                  <a:moveTo>
                    <a:pt x="38613" y="0"/>
                  </a:moveTo>
                  <a:lnTo>
                    <a:pt x="990671" y="0"/>
                  </a:lnTo>
                  <a:cubicBezTo>
                    <a:pt x="1011996" y="0"/>
                    <a:pt x="1029283" y="17288"/>
                    <a:pt x="1029283" y="38613"/>
                  </a:cubicBezTo>
                  <a:lnTo>
                    <a:pt x="1029283" y="562169"/>
                  </a:lnTo>
                  <a:cubicBezTo>
                    <a:pt x="1029283" y="583494"/>
                    <a:pt x="1011996" y="600782"/>
                    <a:pt x="990671" y="600782"/>
                  </a:cubicBezTo>
                  <a:lnTo>
                    <a:pt x="38613" y="600782"/>
                  </a:lnTo>
                  <a:cubicBezTo>
                    <a:pt x="17288" y="600782"/>
                    <a:pt x="0" y="583494"/>
                    <a:pt x="0" y="562169"/>
                  </a:cubicBezTo>
                  <a:lnTo>
                    <a:pt x="0" y="38613"/>
                  </a:lnTo>
                  <a:cubicBezTo>
                    <a:pt x="0" y="17288"/>
                    <a:pt x="17288" y="0"/>
                    <a:pt x="38613" y="0"/>
                  </a:cubicBezTo>
                  <a:close/>
                </a:path>
              </a:pathLst>
            </a:custGeom>
            <a:blipFill>
              <a:blip r:embed="rId2"/>
              <a:stretch>
                <a:fillRect l="-102" r="-102"/>
              </a:stretch>
            </a:blipFill>
            <a:ln cap="sq">
              <a:noFill/>
              <a:prstDash val="solid"/>
              <a:miter/>
            </a:ln>
          </p:spPr>
          <p:txBody>
            <a:bodyPr/>
            <a:lstStyle/>
            <a:p>
              <a:endParaRPr lang="en-US"/>
            </a:p>
          </p:txBody>
        </p:sp>
      </p:grpSp>
      <p:grpSp>
        <p:nvGrpSpPr>
          <p:cNvPr id="4" name="Group 4"/>
          <p:cNvGrpSpPr/>
          <p:nvPr/>
        </p:nvGrpSpPr>
        <p:grpSpPr>
          <a:xfrm>
            <a:off x="13611225" y="5143500"/>
            <a:ext cx="4010025" cy="2238375"/>
            <a:chOff x="0" y="0"/>
            <a:chExt cx="1029283" cy="574541"/>
          </a:xfrm>
        </p:grpSpPr>
        <p:sp>
          <p:nvSpPr>
            <p:cNvPr id="5" name="Freeform 5"/>
            <p:cNvSpPr/>
            <p:nvPr/>
          </p:nvSpPr>
          <p:spPr>
            <a:xfrm>
              <a:off x="0" y="0"/>
              <a:ext cx="1029283" cy="574541"/>
            </a:xfrm>
            <a:custGeom>
              <a:avLst/>
              <a:gdLst/>
              <a:ahLst/>
              <a:cxnLst/>
              <a:rect l="l" t="t" r="r" b="b"/>
              <a:pathLst>
                <a:path w="1029283" h="574541">
                  <a:moveTo>
                    <a:pt x="38613" y="0"/>
                  </a:moveTo>
                  <a:lnTo>
                    <a:pt x="990671" y="0"/>
                  </a:lnTo>
                  <a:cubicBezTo>
                    <a:pt x="1011996" y="0"/>
                    <a:pt x="1029283" y="17288"/>
                    <a:pt x="1029283" y="38613"/>
                  </a:cubicBezTo>
                  <a:lnTo>
                    <a:pt x="1029283" y="535928"/>
                  </a:lnTo>
                  <a:cubicBezTo>
                    <a:pt x="1029283" y="557253"/>
                    <a:pt x="1011996" y="574541"/>
                    <a:pt x="990671" y="574541"/>
                  </a:cubicBezTo>
                  <a:lnTo>
                    <a:pt x="38613" y="574541"/>
                  </a:lnTo>
                  <a:cubicBezTo>
                    <a:pt x="17288" y="574541"/>
                    <a:pt x="0" y="557253"/>
                    <a:pt x="0" y="535928"/>
                  </a:cubicBezTo>
                  <a:lnTo>
                    <a:pt x="0" y="38613"/>
                  </a:lnTo>
                  <a:cubicBezTo>
                    <a:pt x="0" y="17288"/>
                    <a:pt x="17288" y="0"/>
                    <a:pt x="38613" y="0"/>
                  </a:cubicBezTo>
                  <a:close/>
                </a:path>
              </a:pathLst>
            </a:custGeom>
            <a:blipFill>
              <a:blip r:embed="rId3"/>
              <a:stretch>
                <a:fillRect l="-401" r="-401"/>
              </a:stretch>
            </a:blipFill>
            <a:ln cap="sq">
              <a:noFill/>
              <a:prstDash val="solid"/>
              <a:miter/>
            </a:ln>
          </p:spPr>
          <p:txBody>
            <a:bodyPr/>
            <a:lstStyle/>
            <a:p>
              <a:endParaRPr lang="en-US"/>
            </a:p>
          </p:txBody>
        </p:sp>
      </p:grpSp>
      <p:grpSp>
        <p:nvGrpSpPr>
          <p:cNvPr id="6" name="Group 6"/>
          <p:cNvGrpSpPr/>
          <p:nvPr/>
        </p:nvGrpSpPr>
        <p:grpSpPr>
          <a:xfrm>
            <a:off x="13611225" y="666750"/>
            <a:ext cx="4010025" cy="2340610"/>
            <a:chOff x="0" y="0"/>
            <a:chExt cx="1029283" cy="600782"/>
          </a:xfrm>
        </p:grpSpPr>
        <p:sp>
          <p:nvSpPr>
            <p:cNvPr id="7" name="Freeform 7"/>
            <p:cNvSpPr/>
            <p:nvPr/>
          </p:nvSpPr>
          <p:spPr>
            <a:xfrm>
              <a:off x="0" y="0"/>
              <a:ext cx="1029283" cy="600782"/>
            </a:xfrm>
            <a:custGeom>
              <a:avLst/>
              <a:gdLst/>
              <a:ahLst/>
              <a:cxnLst/>
              <a:rect l="l" t="t" r="r" b="b"/>
              <a:pathLst>
                <a:path w="1029283" h="600782">
                  <a:moveTo>
                    <a:pt x="38613" y="0"/>
                  </a:moveTo>
                  <a:lnTo>
                    <a:pt x="990671" y="0"/>
                  </a:lnTo>
                  <a:cubicBezTo>
                    <a:pt x="1011996" y="0"/>
                    <a:pt x="1029283" y="17288"/>
                    <a:pt x="1029283" y="38613"/>
                  </a:cubicBezTo>
                  <a:lnTo>
                    <a:pt x="1029283" y="562169"/>
                  </a:lnTo>
                  <a:cubicBezTo>
                    <a:pt x="1029283" y="583494"/>
                    <a:pt x="1011996" y="600782"/>
                    <a:pt x="990671" y="600782"/>
                  </a:cubicBezTo>
                  <a:lnTo>
                    <a:pt x="38613" y="600782"/>
                  </a:lnTo>
                  <a:cubicBezTo>
                    <a:pt x="17288" y="600782"/>
                    <a:pt x="0" y="583494"/>
                    <a:pt x="0" y="562169"/>
                  </a:cubicBezTo>
                  <a:lnTo>
                    <a:pt x="0" y="38613"/>
                  </a:lnTo>
                  <a:cubicBezTo>
                    <a:pt x="0" y="17288"/>
                    <a:pt x="17288" y="0"/>
                    <a:pt x="38613" y="0"/>
                  </a:cubicBezTo>
                  <a:close/>
                </a:path>
              </a:pathLst>
            </a:custGeom>
            <a:blipFill>
              <a:blip r:embed="rId4"/>
              <a:stretch>
                <a:fillRect l="-102" r="-102"/>
              </a:stretch>
            </a:blipFill>
            <a:ln cap="sq">
              <a:noFill/>
              <a:prstDash val="solid"/>
              <a:miter/>
            </a:ln>
          </p:spPr>
          <p:txBody>
            <a:bodyPr/>
            <a:lstStyle/>
            <a:p>
              <a:endParaRPr lang="en-US"/>
            </a:p>
          </p:txBody>
        </p:sp>
      </p:grpSp>
      <p:grpSp>
        <p:nvGrpSpPr>
          <p:cNvPr id="8" name="Group 8"/>
          <p:cNvGrpSpPr/>
          <p:nvPr/>
        </p:nvGrpSpPr>
        <p:grpSpPr>
          <a:xfrm>
            <a:off x="9296400" y="5143500"/>
            <a:ext cx="4010025" cy="2239371"/>
            <a:chOff x="0" y="0"/>
            <a:chExt cx="1029283" cy="574796"/>
          </a:xfrm>
        </p:grpSpPr>
        <p:sp>
          <p:nvSpPr>
            <p:cNvPr id="9" name="Freeform 9"/>
            <p:cNvSpPr/>
            <p:nvPr/>
          </p:nvSpPr>
          <p:spPr>
            <a:xfrm>
              <a:off x="0" y="0"/>
              <a:ext cx="1029283" cy="574796"/>
            </a:xfrm>
            <a:custGeom>
              <a:avLst/>
              <a:gdLst/>
              <a:ahLst/>
              <a:cxnLst/>
              <a:rect l="l" t="t" r="r" b="b"/>
              <a:pathLst>
                <a:path w="1029283" h="574796">
                  <a:moveTo>
                    <a:pt x="38613" y="0"/>
                  </a:moveTo>
                  <a:lnTo>
                    <a:pt x="990671" y="0"/>
                  </a:lnTo>
                  <a:cubicBezTo>
                    <a:pt x="1011996" y="0"/>
                    <a:pt x="1029283" y="17288"/>
                    <a:pt x="1029283" y="38613"/>
                  </a:cubicBezTo>
                  <a:lnTo>
                    <a:pt x="1029283" y="536184"/>
                  </a:lnTo>
                  <a:cubicBezTo>
                    <a:pt x="1029283" y="557509"/>
                    <a:pt x="1011996" y="574796"/>
                    <a:pt x="990671" y="574796"/>
                  </a:cubicBezTo>
                  <a:lnTo>
                    <a:pt x="38613" y="574796"/>
                  </a:lnTo>
                  <a:cubicBezTo>
                    <a:pt x="17288" y="574796"/>
                    <a:pt x="0" y="557509"/>
                    <a:pt x="0" y="536184"/>
                  </a:cubicBezTo>
                  <a:lnTo>
                    <a:pt x="0" y="38613"/>
                  </a:lnTo>
                  <a:cubicBezTo>
                    <a:pt x="0" y="17288"/>
                    <a:pt x="17288" y="0"/>
                    <a:pt x="38613" y="0"/>
                  </a:cubicBezTo>
                  <a:close/>
                </a:path>
              </a:pathLst>
            </a:custGeom>
            <a:blipFill>
              <a:blip r:embed="rId5"/>
              <a:stretch>
                <a:fillRect l="-423" r="-423"/>
              </a:stretch>
            </a:blipFill>
            <a:ln cap="sq">
              <a:noFill/>
              <a:prstDash val="solid"/>
              <a:miter/>
            </a:ln>
          </p:spPr>
          <p:txBody>
            <a:bodyPr/>
            <a:lstStyle/>
            <a:p>
              <a:endParaRPr lang="en-US"/>
            </a:p>
          </p:txBody>
        </p:sp>
      </p:grpSp>
      <p:grpSp>
        <p:nvGrpSpPr>
          <p:cNvPr id="10" name="Group 10"/>
          <p:cNvGrpSpPr/>
          <p:nvPr/>
        </p:nvGrpSpPr>
        <p:grpSpPr>
          <a:xfrm>
            <a:off x="0" y="-5587"/>
            <a:ext cx="8001000" cy="10287000"/>
            <a:chOff x="0" y="0"/>
            <a:chExt cx="2069630" cy="2709333"/>
          </a:xfrm>
        </p:grpSpPr>
        <p:sp>
          <p:nvSpPr>
            <p:cNvPr id="11" name="Freeform 11"/>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F0DB4F"/>
            </a:solidFill>
            <a:ln cap="sq">
              <a:noFill/>
              <a:prstDash val="solid"/>
              <a:miter/>
            </a:ln>
          </p:spPr>
          <p:txBody>
            <a:bodyPr/>
            <a:lstStyle/>
            <a:p>
              <a:endParaRPr lang="en-US"/>
            </a:p>
          </p:txBody>
        </p:sp>
        <p:sp>
          <p:nvSpPr>
            <p:cNvPr id="12" name="TextBox 12"/>
            <p:cNvSpPr txBox="1"/>
            <p:nvPr/>
          </p:nvSpPr>
          <p:spPr>
            <a:xfrm>
              <a:off x="0" y="-66675"/>
              <a:ext cx="2069630" cy="2776008"/>
            </a:xfrm>
            <a:prstGeom prst="rect">
              <a:avLst/>
            </a:prstGeom>
          </p:spPr>
          <p:txBody>
            <a:bodyPr lIns="50800" tIns="50800" rIns="50800" bIns="50800" rtlCol="0" anchor="ctr"/>
            <a:lstStyle/>
            <a:p>
              <a:pPr marL="457200" indent="-457200" algn="just">
                <a:lnSpc>
                  <a:spcPct val="150000"/>
                </a:lnSpc>
                <a:buFont typeface="Arial" panose="020B0604020202020204" pitchFamily="34" charset="0"/>
                <a:buChar char="•"/>
              </a:pPr>
              <a:r>
                <a:rPr lang="en-US" sz="3200">
                  <a:solidFill>
                    <a:srgbClr val="0A3258"/>
                  </a:solidFill>
                  <a:latin typeface="Times New Roman" panose="02020603050405020304" pitchFamily="18" charset="0"/>
                  <a:ea typeface="Helvetica World"/>
                  <a:cs typeface="Times New Roman" panose="02020603050405020304" pitchFamily="18" charset="0"/>
                  <a:sym typeface="Helvetica World"/>
                </a:rPr>
                <a:t>PHP: xử lý nghiệp vụ và kết nối cơ sở dữ liệu</a:t>
              </a:r>
            </a:p>
            <a:p>
              <a:pPr marL="457200" indent="-457200" algn="just">
                <a:lnSpc>
                  <a:spcPct val="150000"/>
                </a:lnSpc>
                <a:buFont typeface="Arial" panose="020B0604020202020204" pitchFamily="34" charset="0"/>
                <a:buChar char="•"/>
              </a:pPr>
              <a:r>
                <a:rPr lang="en-US" sz="3200">
                  <a:solidFill>
                    <a:srgbClr val="0A3258"/>
                  </a:solidFill>
                  <a:latin typeface="Times New Roman" panose="02020603050405020304" pitchFamily="18" charset="0"/>
                  <a:ea typeface="Helvetica World"/>
                  <a:cs typeface="Times New Roman" panose="02020603050405020304" pitchFamily="18" charset="0"/>
                  <a:sym typeface="Helvetica World"/>
                </a:rPr>
                <a:t>MySQL: lưu trữ và quản lý dữ liệu</a:t>
              </a:r>
            </a:p>
            <a:p>
              <a:pPr marL="457200" indent="-457200" algn="just">
                <a:lnSpc>
                  <a:spcPct val="150000"/>
                </a:lnSpc>
                <a:buFont typeface="Arial" panose="020B0604020202020204" pitchFamily="34" charset="0"/>
                <a:buChar char="•"/>
              </a:pPr>
              <a:r>
                <a:rPr lang="en-US" sz="3200">
                  <a:solidFill>
                    <a:srgbClr val="0A3258"/>
                  </a:solidFill>
                  <a:latin typeface="Times New Roman" panose="02020603050405020304" pitchFamily="18" charset="0"/>
                  <a:ea typeface="Helvetica World"/>
                  <a:cs typeface="Times New Roman" panose="02020603050405020304" pitchFamily="18" charset="0"/>
                  <a:sym typeface="Helvetica World"/>
                </a:rPr>
                <a:t>HTML/CSS: xây dựng giao diện người dùng</a:t>
              </a:r>
            </a:p>
            <a:p>
              <a:pPr marL="457200" indent="-457200" algn="just">
                <a:lnSpc>
                  <a:spcPct val="150000"/>
                </a:lnSpc>
                <a:buFont typeface="Arial" panose="020B0604020202020204" pitchFamily="34" charset="0"/>
                <a:buChar char="•"/>
              </a:pPr>
              <a:r>
                <a:rPr lang="en-US" sz="3200">
                  <a:solidFill>
                    <a:srgbClr val="0A3258"/>
                  </a:solidFill>
                  <a:latin typeface="Times New Roman" panose="02020603050405020304" pitchFamily="18" charset="0"/>
                  <a:ea typeface="Helvetica World"/>
                  <a:cs typeface="Times New Roman" panose="02020603050405020304" pitchFamily="18" charset="0"/>
                  <a:sym typeface="Helvetica World"/>
                </a:rPr>
                <a:t>JavaScript: tăng tính tương tác</a:t>
              </a:r>
            </a:p>
            <a:p>
              <a:pPr marL="457200" indent="-457200" algn="just">
                <a:lnSpc>
                  <a:spcPct val="150000"/>
                </a:lnSpc>
                <a:buFont typeface="Arial" panose="020B0604020202020204" pitchFamily="34" charset="0"/>
                <a:buChar char="•"/>
              </a:pPr>
              <a:r>
                <a:rPr lang="en-US" sz="3200">
                  <a:solidFill>
                    <a:srgbClr val="0A3258"/>
                  </a:solidFill>
                  <a:latin typeface="Times New Roman" panose="02020603050405020304" pitchFamily="18" charset="0"/>
                  <a:ea typeface="Helvetica World"/>
                  <a:cs typeface="Times New Roman" panose="02020603050405020304" pitchFamily="18" charset="0"/>
                  <a:sym typeface="Helvetica World"/>
                </a:rPr>
                <a:t>XAMPP: môi trường phát triển và chạy thử</a:t>
              </a:r>
            </a:p>
            <a:p>
              <a:pPr algn="ctr">
                <a:lnSpc>
                  <a:spcPts val="3359"/>
                </a:lnSpc>
              </a:pPr>
              <a:endParaRPr lang="en-US" sz="2799">
                <a:solidFill>
                  <a:srgbClr val="0A3258"/>
                </a:solidFill>
                <a:latin typeface="Helvetica World"/>
                <a:ea typeface="Helvetica World"/>
                <a:cs typeface="Helvetica World"/>
                <a:sym typeface="Helvetica World"/>
              </a:endParaRPr>
            </a:p>
          </p:txBody>
        </p:sp>
      </p:grpSp>
      <p:sp>
        <p:nvSpPr>
          <p:cNvPr id="13" name="TextBox 13"/>
          <p:cNvSpPr txBox="1"/>
          <p:nvPr/>
        </p:nvSpPr>
        <p:spPr>
          <a:xfrm>
            <a:off x="304800" y="419100"/>
            <a:ext cx="6907534" cy="2077492"/>
          </a:xfrm>
          <a:prstGeom prst="rect">
            <a:avLst/>
          </a:prstGeom>
        </p:spPr>
        <p:txBody>
          <a:bodyPr wrap="square" lIns="0" tIns="0" rIns="0" bIns="0" rtlCol="0" anchor="t">
            <a:spAutoFit/>
          </a:bodyPr>
          <a:lstStyle/>
          <a:p>
            <a:pPr marL="0" lvl="0" indent="0" algn="ctr">
              <a:lnSpc>
                <a:spcPts val="8086"/>
              </a:lnSpc>
            </a:pPr>
            <a:r>
              <a:rPr lang="en-US" sz="8000" b="1" spc="-220">
                <a:solidFill>
                  <a:srgbClr val="00758F"/>
                </a:solidFill>
                <a:latin typeface="Times New Roman" panose="02020603050405020304" pitchFamily="18" charset="0"/>
                <a:ea typeface="Georgia Pro Condensed"/>
                <a:cs typeface="Times New Roman" panose="02020603050405020304" pitchFamily="18" charset="0"/>
                <a:sym typeface="Georgia Pro Condensed"/>
              </a:rPr>
              <a:t>CÔNG NGHỆ SỬ DỤNG</a:t>
            </a:r>
          </a:p>
        </p:txBody>
      </p:sp>
      <p:grpSp>
        <p:nvGrpSpPr>
          <p:cNvPr id="14" name="Group 14"/>
          <p:cNvGrpSpPr/>
          <p:nvPr/>
        </p:nvGrpSpPr>
        <p:grpSpPr>
          <a:xfrm>
            <a:off x="9296400" y="3477673"/>
            <a:ext cx="4010025" cy="894588"/>
            <a:chOff x="0" y="0"/>
            <a:chExt cx="5346700" cy="1192784"/>
          </a:xfrm>
        </p:grpSpPr>
        <p:sp>
          <p:nvSpPr>
            <p:cNvPr id="15" name="TextBox 15"/>
            <p:cNvSpPr txBox="1"/>
            <p:nvPr/>
          </p:nvSpPr>
          <p:spPr>
            <a:xfrm>
              <a:off x="0" y="-9525"/>
              <a:ext cx="5345796"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F0DB4F"/>
                  </a:solidFill>
                  <a:latin typeface="Helvetica World Bold"/>
                  <a:ea typeface="Helvetica World Bold"/>
                  <a:cs typeface="Helvetica World Bold"/>
                  <a:sym typeface="Helvetica World Bold"/>
                </a:rPr>
                <a:t>PHP</a:t>
              </a:r>
            </a:p>
          </p:txBody>
        </p:sp>
        <p:sp>
          <p:nvSpPr>
            <p:cNvPr id="16" name="TextBox 16"/>
            <p:cNvSpPr txBox="1"/>
            <p:nvPr/>
          </p:nvSpPr>
          <p:spPr>
            <a:xfrm>
              <a:off x="0" y="762889"/>
              <a:ext cx="5346700" cy="429895"/>
            </a:xfrm>
            <a:prstGeom prst="rect">
              <a:avLst/>
            </a:prstGeom>
          </p:spPr>
          <p:txBody>
            <a:bodyPr lIns="0" tIns="0" rIns="0" bIns="0" rtlCol="0" anchor="t">
              <a:spAutoFit/>
            </a:bodyPr>
            <a:lstStyle/>
            <a:p>
              <a:pPr marL="0" lvl="0" indent="0" algn="l">
                <a:lnSpc>
                  <a:spcPts val="2580"/>
                </a:lnSpc>
              </a:pPr>
              <a:endParaRPr/>
            </a:p>
          </p:txBody>
        </p:sp>
      </p:grpSp>
      <p:grpSp>
        <p:nvGrpSpPr>
          <p:cNvPr id="17" name="Group 17"/>
          <p:cNvGrpSpPr/>
          <p:nvPr/>
        </p:nvGrpSpPr>
        <p:grpSpPr>
          <a:xfrm>
            <a:off x="13611225" y="3352800"/>
            <a:ext cx="4010025" cy="894588"/>
            <a:chOff x="0" y="0"/>
            <a:chExt cx="5346700" cy="1192784"/>
          </a:xfrm>
        </p:grpSpPr>
        <p:sp>
          <p:nvSpPr>
            <p:cNvPr id="18" name="TextBox 18"/>
            <p:cNvSpPr txBox="1"/>
            <p:nvPr/>
          </p:nvSpPr>
          <p:spPr>
            <a:xfrm>
              <a:off x="0" y="-9525"/>
              <a:ext cx="5345796"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F0DB4F"/>
                  </a:solidFill>
                  <a:latin typeface="Helvetica World Bold"/>
                  <a:ea typeface="Helvetica World Bold"/>
                  <a:cs typeface="Helvetica World Bold"/>
                  <a:sym typeface="Helvetica World Bold"/>
                </a:rPr>
                <a:t>MySQL</a:t>
              </a:r>
            </a:p>
          </p:txBody>
        </p:sp>
        <p:sp>
          <p:nvSpPr>
            <p:cNvPr id="19" name="TextBox 19"/>
            <p:cNvSpPr txBox="1"/>
            <p:nvPr/>
          </p:nvSpPr>
          <p:spPr>
            <a:xfrm>
              <a:off x="0" y="762889"/>
              <a:ext cx="5346700" cy="429895"/>
            </a:xfrm>
            <a:prstGeom prst="rect">
              <a:avLst/>
            </a:prstGeom>
          </p:spPr>
          <p:txBody>
            <a:bodyPr lIns="0" tIns="0" rIns="0" bIns="0" rtlCol="0" anchor="t">
              <a:spAutoFit/>
            </a:bodyPr>
            <a:lstStyle/>
            <a:p>
              <a:pPr marL="0" lvl="0" indent="0" algn="l">
                <a:lnSpc>
                  <a:spcPts val="2580"/>
                </a:lnSpc>
              </a:pPr>
              <a:endParaRPr/>
            </a:p>
          </p:txBody>
        </p:sp>
      </p:grpSp>
      <p:grpSp>
        <p:nvGrpSpPr>
          <p:cNvPr id="20" name="Group 20"/>
          <p:cNvGrpSpPr/>
          <p:nvPr/>
        </p:nvGrpSpPr>
        <p:grpSpPr>
          <a:xfrm>
            <a:off x="9296400" y="7829550"/>
            <a:ext cx="4010025" cy="894588"/>
            <a:chOff x="0" y="0"/>
            <a:chExt cx="5346700" cy="1192784"/>
          </a:xfrm>
        </p:grpSpPr>
        <p:sp>
          <p:nvSpPr>
            <p:cNvPr id="21" name="TextBox 21"/>
            <p:cNvSpPr txBox="1"/>
            <p:nvPr/>
          </p:nvSpPr>
          <p:spPr>
            <a:xfrm>
              <a:off x="0" y="-9525"/>
              <a:ext cx="5345796"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F0DB4F"/>
                  </a:solidFill>
                  <a:latin typeface="Helvetica World Bold"/>
                  <a:ea typeface="Helvetica World Bold"/>
                  <a:cs typeface="Helvetica World Bold"/>
                  <a:sym typeface="Helvetica World Bold"/>
                </a:rPr>
                <a:t>HTML/CSS</a:t>
              </a:r>
            </a:p>
          </p:txBody>
        </p:sp>
        <p:sp>
          <p:nvSpPr>
            <p:cNvPr id="22" name="TextBox 22"/>
            <p:cNvSpPr txBox="1"/>
            <p:nvPr/>
          </p:nvSpPr>
          <p:spPr>
            <a:xfrm>
              <a:off x="0" y="762889"/>
              <a:ext cx="5346700" cy="429895"/>
            </a:xfrm>
            <a:prstGeom prst="rect">
              <a:avLst/>
            </a:prstGeom>
          </p:spPr>
          <p:txBody>
            <a:bodyPr lIns="0" tIns="0" rIns="0" bIns="0" rtlCol="0" anchor="t">
              <a:spAutoFit/>
            </a:bodyPr>
            <a:lstStyle/>
            <a:p>
              <a:pPr marL="0" lvl="0" indent="0" algn="l">
                <a:lnSpc>
                  <a:spcPts val="2580"/>
                </a:lnSpc>
              </a:pPr>
              <a:endParaRPr/>
            </a:p>
          </p:txBody>
        </p:sp>
      </p:grpSp>
      <p:grpSp>
        <p:nvGrpSpPr>
          <p:cNvPr id="23" name="Group 23"/>
          <p:cNvGrpSpPr/>
          <p:nvPr/>
        </p:nvGrpSpPr>
        <p:grpSpPr>
          <a:xfrm>
            <a:off x="13611225" y="7829550"/>
            <a:ext cx="4010025" cy="894588"/>
            <a:chOff x="0" y="0"/>
            <a:chExt cx="5346700" cy="1192784"/>
          </a:xfrm>
        </p:grpSpPr>
        <p:sp>
          <p:nvSpPr>
            <p:cNvPr id="24" name="TextBox 24"/>
            <p:cNvSpPr txBox="1"/>
            <p:nvPr/>
          </p:nvSpPr>
          <p:spPr>
            <a:xfrm>
              <a:off x="0" y="-9525"/>
              <a:ext cx="5345796"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F0DB4F"/>
                  </a:solidFill>
                  <a:latin typeface="Helvetica World Bold"/>
                  <a:ea typeface="Helvetica World Bold"/>
                  <a:cs typeface="Helvetica World Bold"/>
                  <a:sym typeface="Helvetica World Bold"/>
                </a:rPr>
                <a:t>JavaScript</a:t>
              </a:r>
            </a:p>
          </p:txBody>
        </p:sp>
        <p:sp>
          <p:nvSpPr>
            <p:cNvPr id="25" name="TextBox 25"/>
            <p:cNvSpPr txBox="1"/>
            <p:nvPr/>
          </p:nvSpPr>
          <p:spPr>
            <a:xfrm>
              <a:off x="0" y="762889"/>
              <a:ext cx="5346700" cy="429895"/>
            </a:xfrm>
            <a:prstGeom prst="rect">
              <a:avLst/>
            </a:prstGeom>
          </p:spPr>
          <p:txBody>
            <a:bodyPr lIns="0" tIns="0" rIns="0" bIns="0" rtlCol="0" anchor="t">
              <a:spAutoFit/>
            </a:bodyPr>
            <a:lstStyle/>
            <a:p>
              <a:pPr marL="0" lvl="0" indent="0" algn="l">
                <a:lnSpc>
                  <a:spcPts val="2580"/>
                </a:lnSpc>
              </a:pPr>
              <a:endParaRPr/>
            </a:p>
          </p:txBody>
        </p:sp>
      </p:grpSp>
      <p:sp>
        <p:nvSpPr>
          <p:cNvPr id="26" name="Freeform 26"/>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7" name="TextBox 27"/>
          <p:cNvSpPr txBox="1"/>
          <p:nvPr/>
        </p:nvSpPr>
        <p:spPr>
          <a:xfrm>
            <a:off x="10886" y="9748391"/>
            <a:ext cx="1502691"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000000"/>
                </a:solidFill>
                <a:latin typeface="Inclusive Sans"/>
                <a:ea typeface="Inclusive Sans"/>
                <a:cs typeface="Inclusive Sans"/>
                <a:sym typeface="Inclusive Sans"/>
              </a:rPr>
              <a:t>6/20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BC11"/>
        </a:solidFill>
        <a:effectLst/>
      </p:bgPr>
    </p:bg>
    <p:spTree>
      <p:nvGrpSpPr>
        <p:cNvPr id="1" name=""/>
        <p:cNvGrpSpPr/>
        <p:nvPr/>
      </p:nvGrpSpPr>
      <p:grpSpPr>
        <a:xfrm>
          <a:off x="0" y="0"/>
          <a:ext cx="0" cy="0"/>
          <a:chOff x="0" y="0"/>
          <a:chExt cx="0" cy="0"/>
        </a:xfrm>
      </p:grpSpPr>
      <p:grpSp>
        <p:nvGrpSpPr>
          <p:cNvPr id="2" name="Group 2"/>
          <p:cNvGrpSpPr/>
          <p:nvPr/>
        </p:nvGrpSpPr>
        <p:grpSpPr>
          <a:xfrm>
            <a:off x="11525791" y="285750"/>
            <a:ext cx="7126185" cy="9715500"/>
            <a:chOff x="0" y="0"/>
            <a:chExt cx="1072489" cy="1462180"/>
          </a:xfrm>
        </p:grpSpPr>
        <p:sp>
          <p:nvSpPr>
            <p:cNvPr id="3" name="Freeform 3"/>
            <p:cNvSpPr/>
            <p:nvPr/>
          </p:nvSpPr>
          <p:spPr>
            <a:xfrm>
              <a:off x="0" y="0"/>
              <a:ext cx="1072489" cy="1462180"/>
            </a:xfrm>
            <a:custGeom>
              <a:avLst/>
              <a:gdLst/>
              <a:ahLst/>
              <a:cxnLst/>
              <a:rect l="l" t="t" r="r" b="b"/>
              <a:pathLst>
                <a:path w="1072489" h="1462180">
                  <a:moveTo>
                    <a:pt x="32592" y="0"/>
                  </a:moveTo>
                  <a:lnTo>
                    <a:pt x="1039897" y="0"/>
                  </a:lnTo>
                  <a:cubicBezTo>
                    <a:pt x="1057897" y="0"/>
                    <a:pt x="1072489" y="14592"/>
                    <a:pt x="1072489" y="32592"/>
                  </a:cubicBezTo>
                  <a:lnTo>
                    <a:pt x="1072489" y="1429588"/>
                  </a:lnTo>
                  <a:cubicBezTo>
                    <a:pt x="1072489" y="1447588"/>
                    <a:pt x="1057897" y="1462180"/>
                    <a:pt x="1039897" y="1462180"/>
                  </a:cubicBezTo>
                  <a:lnTo>
                    <a:pt x="32592" y="1462180"/>
                  </a:lnTo>
                  <a:cubicBezTo>
                    <a:pt x="23948" y="1462180"/>
                    <a:pt x="15658" y="1458746"/>
                    <a:pt x="9546" y="1452634"/>
                  </a:cubicBezTo>
                  <a:cubicBezTo>
                    <a:pt x="3434" y="1446522"/>
                    <a:pt x="0" y="1438232"/>
                    <a:pt x="0" y="1429588"/>
                  </a:cubicBezTo>
                  <a:lnTo>
                    <a:pt x="0" y="32592"/>
                  </a:lnTo>
                  <a:cubicBezTo>
                    <a:pt x="0" y="14592"/>
                    <a:pt x="14592" y="0"/>
                    <a:pt x="32592" y="0"/>
                  </a:cubicBezTo>
                  <a:close/>
                </a:path>
              </a:pathLst>
            </a:custGeom>
            <a:blipFill>
              <a:blip r:embed="rId2"/>
              <a:stretch>
                <a:fillRect t="-152" b="-152"/>
              </a:stretch>
            </a:blipFill>
          </p:spPr>
          <p:txBody>
            <a:bodyPr/>
            <a:lstStyle/>
            <a:p>
              <a:endParaRPr lang="en-US"/>
            </a:p>
          </p:txBody>
        </p:sp>
      </p:grpSp>
      <p:sp>
        <p:nvSpPr>
          <p:cNvPr id="4" name="TextBox 4"/>
          <p:cNvSpPr txBox="1"/>
          <p:nvPr/>
        </p:nvSpPr>
        <p:spPr>
          <a:xfrm>
            <a:off x="14514" y="571500"/>
            <a:ext cx="12001500" cy="1667123"/>
          </a:xfrm>
          <a:prstGeom prst="rect">
            <a:avLst/>
          </a:prstGeom>
        </p:spPr>
        <p:txBody>
          <a:bodyPr wrap="square" lIns="0" tIns="0" rIns="0" bIns="0" rtlCol="0" anchor="t">
            <a:spAutoFit/>
          </a:bodyPr>
          <a:lstStyle/>
          <a:p>
            <a:pPr marL="0" lvl="0" indent="0" algn="ctr">
              <a:lnSpc>
                <a:spcPts val="13041"/>
              </a:lnSpc>
            </a:pPr>
            <a:r>
              <a:rPr lang="en-US" sz="8000" b="1" spc="-391">
                <a:solidFill>
                  <a:srgbClr val="3A3A3A"/>
                </a:solidFill>
                <a:latin typeface="Times New Roman" panose="02020603050405020304" pitchFamily="18" charset="0"/>
                <a:ea typeface="DM Sans"/>
                <a:cs typeface="Times New Roman" panose="02020603050405020304" pitchFamily="18" charset="0"/>
                <a:sym typeface="DM Sans"/>
              </a:rPr>
              <a:t>KIẾN TRÚC HỆ THỐNG</a:t>
            </a:r>
          </a:p>
        </p:txBody>
      </p:sp>
      <p:sp>
        <p:nvSpPr>
          <p:cNvPr id="5" name="TextBox 5"/>
          <p:cNvSpPr txBox="1"/>
          <p:nvPr/>
        </p:nvSpPr>
        <p:spPr>
          <a:xfrm>
            <a:off x="796789" y="2781300"/>
            <a:ext cx="10436950" cy="3604833"/>
          </a:xfrm>
          <a:prstGeom prst="rect">
            <a:avLst/>
          </a:prstGeom>
        </p:spPr>
        <p:txBody>
          <a:bodyPr lIns="0" tIns="0" rIns="0" bIns="0" rtlCol="0" anchor="t">
            <a:spAutoFit/>
          </a:bodyPr>
          <a:lstStyle/>
          <a:p>
            <a:pPr marL="0" lvl="0" indent="0" algn="just">
              <a:lnSpc>
                <a:spcPct val="150000"/>
              </a:lnSpc>
            </a:pPr>
            <a:r>
              <a:rPr lang="en-US" sz="3200" spc="-114">
                <a:solidFill>
                  <a:srgbClr val="3A3A3A"/>
                </a:solidFill>
                <a:latin typeface="Times New Roman" panose="02020603050405020304" pitchFamily="18" charset="0"/>
                <a:ea typeface="DM Sans"/>
                <a:cs typeface="Times New Roman" panose="02020603050405020304" pitchFamily="18" charset="0"/>
                <a:sym typeface="DM Sans"/>
              </a:rPr>
              <a:t>	Mô hình ba lớp: lớp trình duyệt chịu trách nhiệm giao diện và tương tác (HTML/CSS/JS, assets), lớp ứng dụng (Application) xử lý nghiệp vụ bằng PHP gồm trang public, API và khu quản trị (xử lý giỏ hàng, đơn hàng, thanh toán, chat), và lớp dữ liệu (Data) dùng MySQL lưu trữ.</a:t>
            </a:r>
          </a:p>
        </p:txBody>
      </p:sp>
      <p:sp>
        <p:nvSpPr>
          <p:cNvPr id="6" name="TextBox 6"/>
          <p:cNvSpPr txBox="1"/>
          <p:nvPr/>
        </p:nvSpPr>
        <p:spPr>
          <a:xfrm>
            <a:off x="281718" y="9477375"/>
            <a:ext cx="1013682"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000000"/>
                </a:solidFill>
                <a:latin typeface="Inclusive Sans"/>
                <a:ea typeface="Inclusive Sans"/>
                <a:cs typeface="Inclusive Sans"/>
                <a:sym typeface="Inclusive Sans"/>
              </a:rPr>
              <a:t>7/20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1902472" y="2166113"/>
            <a:ext cx="6886575" cy="1839011"/>
            <a:chOff x="0" y="-9525"/>
            <a:chExt cx="9182100" cy="2452015"/>
          </a:xfrm>
        </p:grpSpPr>
        <p:sp>
          <p:nvSpPr>
            <p:cNvPr id="3" name="TextBox 3"/>
            <p:cNvSpPr txBox="1"/>
            <p:nvPr/>
          </p:nvSpPr>
          <p:spPr>
            <a:xfrm>
              <a:off x="0" y="852311"/>
              <a:ext cx="9182100" cy="1590179"/>
            </a:xfrm>
            <a:prstGeom prst="rect">
              <a:avLst/>
            </a:prstGeom>
          </p:spPr>
          <p:txBody>
            <a:bodyPr lIns="0" tIns="0" rIns="0" bIns="0" rtlCol="0" anchor="t">
              <a:spAutoFit/>
            </a:bodyPr>
            <a:lstStyle/>
            <a:p>
              <a:pPr algn="l">
                <a:lnSpc>
                  <a:spcPts val="3079"/>
                </a:lnSpc>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Thêm/sửa/xóa, quản lý hình ảnh, số lượng, danh mục.</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4" name="TextBox 4"/>
            <p:cNvSpPr txBox="1"/>
            <p:nvPr/>
          </p:nvSpPr>
          <p:spPr>
            <a:xfrm>
              <a:off x="0" y="-9525"/>
              <a:ext cx="9182100" cy="615553"/>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Quản lý sản phẩm:</a:t>
              </a:r>
            </a:p>
          </p:txBody>
        </p:sp>
      </p:grpSp>
      <p:sp>
        <p:nvSpPr>
          <p:cNvPr id="5" name="TextBox 5"/>
          <p:cNvSpPr txBox="1"/>
          <p:nvPr/>
        </p:nvSpPr>
        <p:spPr>
          <a:xfrm>
            <a:off x="823614" y="2172938"/>
            <a:ext cx="774058" cy="461665"/>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01</a:t>
            </a:r>
          </a:p>
        </p:txBody>
      </p:sp>
      <p:grpSp>
        <p:nvGrpSpPr>
          <p:cNvPr id="6" name="Group 6"/>
          <p:cNvGrpSpPr/>
          <p:nvPr/>
        </p:nvGrpSpPr>
        <p:grpSpPr>
          <a:xfrm>
            <a:off x="1902472" y="3735238"/>
            <a:ext cx="6886575" cy="1442815"/>
            <a:chOff x="0" y="-9525"/>
            <a:chExt cx="9182100" cy="1923754"/>
          </a:xfrm>
        </p:grpSpPr>
        <p:sp>
          <p:nvSpPr>
            <p:cNvPr id="7" name="TextBox 7"/>
            <p:cNvSpPr txBox="1"/>
            <p:nvPr/>
          </p:nvSpPr>
          <p:spPr>
            <a:xfrm>
              <a:off x="0" y="854110"/>
              <a:ext cx="9182100" cy="1060119"/>
            </a:xfrm>
            <a:prstGeom prst="rect">
              <a:avLst/>
            </a:prstGeom>
          </p:spPr>
          <p:txBody>
            <a:bodyPr lIns="0" tIns="0" rIns="0" bIns="0" rtlCol="0" anchor="t">
              <a:spAutoFit/>
            </a:bodyPr>
            <a:lstStyle/>
            <a:p>
              <a:pPr algn="l">
                <a:lnSpc>
                  <a:spcPts val="3079"/>
                </a:lnSpc>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Lọc, sắp xếp, xem chi tiết sản phẩm.</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8" name="TextBox 8"/>
            <p:cNvSpPr txBox="1"/>
            <p:nvPr/>
          </p:nvSpPr>
          <p:spPr>
            <a:xfrm>
              <a:off x="0" y="-9525"/>
              <a:ext cx="9182100" cy="619126"/>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Duyệt và tìm kiếm sản phẩm:</a:t>
              </a:r>
            </a:p>
          </p:txBody>
        </p:sp>
      </p:grpSp>
      <p:sp>
        <p:nvSpPr>
          <p:cNvPr id="9" name="TextBox 9"/>
          <p:cNvSpPr txBox="1"/>
          <p:nvPr/>
        </p:nvSpPr>
        <p:spPr>
          <a:xfrm>
            <a:off x="823614" y="3753470"/>
            <a:ext cx="774058" cy="461665"/>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02</a:t>
            </a:r>
          </a:p>
        </p:txBody>
      </p:sp>
      <p:grpSp>
        <p:nvGrpSpPr>
          <p:cNvPr id="10" name="Group 10"/>
          <p:cNvGrpSpPr/>
          <p:nvPr/>
        </p:nvGrpSpPr>
        <p:grpSpPr>
          <a:xfrm>
            <a:off x="1814297" y="5466058"/>
            <a:ext cx="6886575" cy="1442789"/>
            <a:chOff x="0" y="-9525"/>
            <a:chExt cx="9182100" cy="1923719"/>
          </a:xfrm>
        </p:grpSpPr>
        <p:sp>
          <p:nvSpPr>
            <p:cNvPr id="11" name="TextBox 11"/>
            <p:cNvSpPr txBox="1"/>
            <p:nvPr/>
          </p:nvSpPr>
          <p:spPr>
            <a:xfrm>
              <a:off x="0" y="854075"/>
              <a:ext cx="9182100" cy="1060119"/>
            </a:xfrm>
            <a:prstGeom prst="rect">
              <a:avLst/>
            </a:prstGeom>
          </p:spPr>
          <p:txBody>
            <a:bodyPr lIns="0" tIns="0" rIns="0" bIns="0" rtlCol="0" anchor="t">
              <a:spAutoFit/>
            </a:bodyPr>
            <a:lstStyle/>
            <a:p>
              <a:pPr marL="0" lvl="0" indent="0" algn="l">
                <a:lnSpc>
                  <a:spcPts val="3079"/>
                </a:lnSpc>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Thêm vào giỏ, cập nhật số lượng, tạo đơn, hỗ trợ COD và chuyển khoản (upload chứng từ).</a:t>
              </a:r>
            </a:p>
          </p:txBody>
        </p:sp>
        <p:sp>
          <p:nvSpPr>
            <p:cNvPr id="12" name="TextBox 12"/>
            <p:cNvSpPr txBox="1"/>
            <p:nvPr/>
          </p:nvSpPr>
          <p:spPr>
            <a:xfrm>
              <a:off x="0" y="-9525"/>
              <a:ext cx="9182100" cy="615553"/>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Giỏ hàng và thanh toán:</a:t>
              </a:r>
            </a:p>
          </p:txBody>
        </p:sp>
      </p:grpSp>
      <p:sp>
        <p:nvSpPr>
          <p:cNvPr id="13" name="TextBox 13"/>
          <p:cNvSpPr txBox="1"/>
          <p:nvPr/>
        </p:nvSpPr>
        <p:spPr>
          <a:xfrm>
            <a:off x="735439" y="5484290"/>
            <a:ext cx="774058" cy="461665"/>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03</a:t>
            </a:r>
          </a:p>
        </p:txBody>
      </p:sp>
      <p:sp>
        <p:nvSpPr>
          <p:cNvPr id="14" name="TextBox 14"/>
          <p:cNvSpPr txBox="1"/>
          <p:nvPr/>
        </p:nvSpPr>
        <p:spPr>
          <a:xfrm>
            <a:off x="3276600" y="61451"/>
            <a:ext cx="12170715" cy="2215991"/>
          </a:xfrm>
          <a:prstGeom prst="rect">
            <a:avLst/>
          </a:prstGeom>
        </p:spPr>
        <p:txBody>
          <a:bodyPr wrap="square" lIns="0" tIns="0" rIns="0" bIns="0" rtlCol="0" anchor="t">
            <a:spAutoFit/>
          </a:bodyPr>
          <a:lstStyle/>
          <a:p>
            <a:pPr algn="ctr"/>
            <a:r>
              <a:rPr lang="en-US" sz="7200" b="1">
                <a:solidFill>
                  <a:srgbClr val="ECF0F1"/>
                </a:solidFill>
                <a:latin typeface="Times New Roman" panose="02020603050405020304" pitchFamily="18" charset="0"/>
                <a:ea typeface="Lovelace Text"/>
                <a:cs typeface="Times New Roman" panose="02020603050405020304" pitchFamily="18" charset="0"/>
                <a:sym typeface="Lovelace Text"/>
              </a:rPr>
              <a:t>TỔNG QUAN CHỨC NĂNG HỆ THỐNG</a:t>
            </a:r>
          </a:p>
        </p:txBody>
      </p:sp>
      <p:sp>
        <p:nvSpPr>
          <p:cNvPr id="15" name="AutoShape 15"/>
          <p:cNvSpPr/>
          <p:nvPr/>
        </p:nvSpPr>
        <p:spPr>
          <a:xfrm flipV="1">
            <a:off x="9144000" y="2425668"/>
            <a:ext cx="0" cy="7194582"/>
          </a:xfrm>
          <a:prstGeom prst="line">
            <a:avLst/>
          </a:prstGeom>
          <a:ln w="19050" cap="rnd">
            <a:solidFill>
              <a:srgbClr val="ECF0F1"/>
            </a:solidFill>
            <a:prstDash val="solid"/>
            <a:headEnd type="none" w="sm" len="sm"/>
            <a:tailEnd type="none" w="sm" len="sm"/>
          </a:ln>
        </p:spPr>
        <p:txBody>
          <a:bodyPr/>
          <a:lstStyle/>
          <a:p>
            <a:endParaRPr lang="en-US"/>
          </a:p>
        </p:txBody>
      </p:sp>
      <p:grpSp>
        <p:nvGrpSpPr>
          <p:cNvPr id="16" name="Group 16"/>
          <p:cNvGrpSpPr/>
          <p:nvPr/>
        </p:nvGrpSpPr>
        <p:grpSpPr>
          <a:xfrm>
            <a:off x="1814297" y="7489748"/>
            <a:ext cx="6886575" cy="1442789"/>
            <a:chOff x="0" y="-9525"/>
            <a:chExt cx="9182100" cy="1923719"/>
          </a:xfrm>
        </p:grpSpPr>
        <p:sp>
          <p:nvSpPr>
            <p:cNvPr id="17" name="TextBox 17"/>
            <p:cNvSpPr txBox="1"/>
            <p:nvPr/>
          </p:nvSpPr>
          <p:spPr>
            <a:xfrm>
              <a:off x="0" y="854075"/>
              <a:ext cx="9182100" cy="1060119"/>
            </a:xfrm>
            <a:prstGeom prst="rect">
              <a:avLst/>
            </a:prstGeom>
          </p:spPr>
          <p:txBody>
            <a:bodyPr lIns="0" tIns="0" rIns="0" bIns="0" rtlCol="0" anchor="t">
              <a:spAutoFit/>
            </a:bodyPr>
            <a:lstStyle/>
            <a:p>
              <a:pPr marL="0" lvl="0" indent="0" algn="l">
                <a:lnSpc>
                  <a:spcPts val="3079"/>
                </a:lnSpc>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 Xem và điều chỉnh trạng thái, tạo hóa đơn, lưu lịch sử trạng thái.</a:t>
              </a:r>
            </a:p>
          </p:txBody>
        </p:sp>
        <p:sp>
          <p:nvSpPr>
            <p:cNvPr id="18" name="TextBox 18"/>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Quản lý đơn hàng:</a:t>
              </a:r>
            </a:p>
          </p:txBody>
        </p:sp>
      </p:grpSp>
      <p:sp>
        <p:nvSpPr>
          <p:cNvPr id="19" name="TextBox 19"/>
          <p:cNvSpPr txBox="1"/>
          <p:nvPr/>
        </p:nvSpPr>
        <p:spPr>
          <a:xfrm>
            <a:off x="746510" y="7494883"/>
            <a:ext cx="774058" cy="458470"/>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04</a:t>
            </a:r>
          </a:p>
        </p:txBody>
      </p:sp>
      <p:grpSp>
        <p:nvGrpSpPr>
          <p:cNvPr id="20" name="Group 20"/>
          <p:cNvGrpSpPr/>
          <p:nvPr/>
        </p:nvGrpSpPr>
        <p:grpSpPr>
          <a:xfrm>
            <a:off x="10740117" y="2222944"/>
            <a:ext cx="6886575" cy="1442789"/>
            <a:chOff x="0" y="-9525"/>
            <a:chExt cx="9182100" cy="1923719"/>
          </a:xfrm>
        </p:grpSpPr>
        <p:sp>
          <p:nvSpPr>
            <p:cNvPr id="21" name="TextBox 21"/>
            <p:cNvSpPr txBox="1"/>
            <p:nvPr/>
          </p:nvSpPr>
          <p:spPr>
            <a:xfrm>
              <a:off x="0" y="854075"/>
              <a:ext cx="9182100" cy="1060119"/>
            </a:xfrm>
            <a:prstGeom prst="rect">
              <a:avLst/>
            </a:prstGeom>
          </p:spPr>
          <p:txBody>
            <a:bodyPr lIns="0" tIns="0" rIns="0" bIns="0" rtlCol="0" anchor="t">
              <a:spAutoFit/>
            </a:bodyPr>
            <a:lstStyle/>
            <a:p>
              <a:pPr marL="0" lvl="0" indent="0" algn="l">
                <a:lnSpc>
                  <a:spcPts val="3079"/>
                </a:lnSpc>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Đăng ký/đăng nhập, xem lịch sử đơn, quản lý thông tin cá nhân.</a:t>
              </a:r>
            </a:p>
          </p:txBody>
        </p:sp>
        <p:sp>
          <p:nvSpPr>
            <p:cNvPr id="22" name="TextBox 22"/>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Tài khoản người dùng:</a:t>
              </a:r>
            </a:p>
          </p:txBody>
        </p:sp>
      </p:grpSp>
      <p:sp>
        <p:nvSpPr>
          <p:cNvPr id="23" name="TextBox 23"/>
          <p:cNvSpPr txBox="1"/>
          <p:nvPr/>
        </p:nvSpPr>
        <p:spPr>
          <a:xfrm>
            <a:off x="9661258" y="2277442"/>
            <a:ext cx="774058" cy="458470"/>
          </a:xfrm>
          <a:prstGeom prst="rect">
            <a:avLst/>
          </a:prstGeom>
        </p:spPr>
        <p:txBody>
          <a:bodyPr lIns="0" tIns="0" rIns="0" bIns="0" rtlCol="0" anchor="t">
            <a:spAutoFit/>
          </a:bodyPr>
          <a:lstStyle/>
          <a:p>
            <a:pPr algn="r">
              <a:lnSpc>
                <a:spcPts val="3640"/>
              </a:lnSpc>
            </a:pPr>
            <a:r>
              <a:rPr lang="en-US" sz="3200" b="1">
                <a:solidFill>
                  <a:srgbClr val="ECF0F1"/>
                </a:solidFill>
                <a:latin typeface="Times New Roman" panose="02020603050405020304" pitchFamily="18" charset="0"/>
                <a:ea typeface="Lovelace Text Bold"/>
                <a:cs typeface="Times New Roman" panose="02020603050405020304" pitchFamily="18" charset="0"/>
                <a:sym typeface="Lovelace Text Bold"/>
              </a:rPr>
              <a:t>05</a:t>
            </a:r>
          </a:p>
        </p:txBody>
      </p:sp>
      <p:grpSp>
        <p:nvGrpSpPr>
          <p:cNvPr id="24" name="Group 24"/>
          <p:cNvGrpSpPr/>
          <p:nvPr/>
        </p:nvGrpSpPr>
        <p:grpSpPr>
          <a:xfrm>
            <a:off x="10740117" y="3907581"/>
            <a:ext cx="6886575" cy="1045243"/>
            <a:chOff x="0" y="-9525"/>
            <a:chExt cx="9182100" cy="1393659"/>
          </a:xfrm>
        </p:grpSpPr>
        <p:sp>
          <p:nvSpPr>
            <p:cNvPr id="25" name="TextBox 25"/>
            <p:cNvSpPr txBox="1"/>
            <p:nvPr/>
          </p:nvSpPr>
          <p:spPr>
            <a:xfrm>
              <a:off x="0" y="854074"/>
              <a:ext cx="9182100" cy="530060"/>
            </a:xfrm>
            <a:prstGeom prst="rect">
              <a:avLst/>
            </a:prstGeom>
          </p:spPr>
          <p:txBody>
            <a:bodyPr lIns="0" tIns="0" rIns="0" bIns="0" rtlCol="0" anchor="t">
              <a:spAutoFit/>
            </a:bodyPr>
            <a:lstStyle/>
            <a:p>
              <a:pPr marL="0" lvl="0" indent="0" algn="l">
                <a:lnSpc>
                  <a:spcPts val="3079"/>
                </a:lnSpc>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Người dùng đánh giá sản phẩm, gửi liên hệ, </a:t>
              </a:r>
            </a:p>
          </p:txBody>
        </p:sp>
        <p:sp>
          <p:nvSpPr>
            <p:cNvPr id="26" name="TextBox 26"/>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Phản hồi: </a:t>
              </a:r>
            </a:p>
          </p:txBody>
        </p:sp>
      </p:grpSp>
      <p:sp>
        <p:nvSpPr>
          <p:cNvPr id="27" name="TextBox 27"/>
          <p:cNvSpPr txBox="1"/>
          <p:nvPr/>
        </p:nvSpPr>
        <p:spPr>
          <a:xfrm>
            <a:off x="9661258" y="3883724"/>
            <a:ext cx="774058" cy="458470"/>
          </a:xfrm>
          <a:prstGeom prst="rect">
            <a:avLst/>
          </a:prstGeom>
        </p:spPr>
        <p:txBody>
          <a:bodyPr lIns="0" tIns="0" rIns="0" bIns="0" rtlCol="0" anchor="t">
            <a:spAutoFit/>
          </a:bodyPr>
          <a:lstStyle/>
          <a:p>
            <a:pPr algn="r">
              <a:lnSpc>
                <a:spcPts val="3640"/>
              </a:lnSpc>
            </a:pPr>
            <a:r>
              <a:rPr lang="en-US" sz="3200" b="1">
                <a:solidFill>
                  <a:srgbClr val="ECF0F1"/>
                </a:solidFill>
                <a:latin typeface="Times New Roman" panose="02020603050405020304" pitchFamily="18" charset="0"/>
                <a:ea typeface="Lovelace Text Bold"/>
                <a:cs typeface="Times New Roman" panose="02020603050405020304" pitchFamily="18" charset="0"/>
                <a:sym typeface="Lovelace Text Bold"/>
              </a:rPr>
              <a:t>06</a:t>
            </a:r>
          </a:p>
        </p:txBody>
      </p:sp>
      <p:grpSp>
        <p:nvGrpSpPr>
          <p:cNvPr id="28" name="Group 28"/>
          <p:cNvGrpSpPr/>
          <p:nvPr/>
        </p:nvGrpSpPr>
        <p:grpSpPr>
          <a:xfrm>
            <a:off x="10670533" y="5325020"/>
            <a:ext cx="6886575" cy="1442789"/>
            <a:chOff x="0" y="-9525"/>
            <a:chExt cx="9182100" cy="1923719"/>
          </a:xfrm>
        </p:grpSpPr>
        <p:sp>
          <p:nvSpPr>
            <p:cNvPr id="29" name="TextBox 29"/>
            <p:cNvSpPr txBox="1"/>
            <p:nvPr/>
          </p:nvSpPr>
          <p:spPr>
            <a:xfrm>
              <a:off x="0" y="854075"/>
              <a:ext cx="9182100" cy="1060119"/>
            </a:xfrm>
            <a:prstGeom prst="rect">
              <a:avLst/>
            </a:prstGeom>
          </p:spPr>
          <p:txBody>
            <a:bodyPr lIns="0" tIns="0" rIns="0" bIns="0" rtlCol="0" anchor="t">
              <a:spAutoFit/>
            </a:bodyPr>
            <a:lstStyle/>
            <a:p>
              <a:pPr marL="0" lvl="0" indent="0" algn="l">
                <a:lnSpc>
                  <a:spcPts val="3079"/>
                </a:lnSpc>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Quản lý sản phẩm, đơn, người dùng, feedbacks, báo cáo.</a:t>
              </a:r>
            </a:p>
          </p:txBody>
        </p:sp>
        <p:sp>
          <p:nvSpPr>
            <p:cNvPr id="30" name="TextBox 30"/>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Quản trị hệ thống (admin):</a:t>
              </a:r>
            </a:p>
          </p:txBody>
        </p:sp>
      </p:grpSp>
      <p:sp>
        <p:nvSpPr>
          <p:cNvPr id="31" name="TextBox 31"/>
          <p:cNvSpPr txBox="1"/>
          <p:nvPr/>
        </p:nvSpPr>
        <p:spPr>
          <a:xfrm>
            <a:off x="9591675" y="5343252"/>
            <a:ext cx="774058" cy="458470"/>
          </a:xfrm>
          <a:prstGeom prst="rect">
            <a:avLst/>
          </a:prstGeom>
        </p:spPr>
        <p:txBody>
          <a:bodyPr lIns="0" tIns="0" rIns="0" bIns="0" rtlCol="0" anchor="t">
            <a:spAutoFit/>
          </a:bodyPr>
          <a:lstStyle/>
          <a:p>
            <a:pPr algn="r">
              <a:lnSpc>
                <a:spcPts val="3640"/>
              </a:lnSpc>
            </a:pPr>
            <a:r>
              <a:rPr lang="en-US" sz="3200" b="1">
                <a:solidFill>
                  <a:srgbClr val="ECF0F1"/>
                </a:solidFill>
                <a:latin typeface="Times New Roman" panose="02020603050405020304" pitchFamily="18" charset="0"/>
                <a:ea typeface="Lovelace Text Bold"/>
                <a:cs typeface="Times New Roman" panose="02020603050405020304" pitchFamily="18" charset="0"/>
                <a:sym typeface="Lovelace Text Bold"/>
              </a:rPr>
              <a:t>07</a:t>
            </a:r>
          </a:p>
        </p:txBody>
      </p:sp>
      <p:grpSp>
        <p:nvGrpSpPr>
          <p:cNvPr id="32" name="Group 32"/>
          <p:cNvGrpSpPr/>
          <p:nvPr/>
        </p:nvGrpSpPr>
        <p:grpSpPr>
          <a:xfrm>
            <a:off x="10740117" y="7305654"/>
            <a:ext cx="6886575" cy="1045244"/>
            <a:chOff x="0" y="-9525"/>
            <a:chExt cx="9182100" cy="1393660"/>
          </a:xfrm>
        </p:grpSpPr>
        <p:sp>
          <p:nvSpPr>
            <p:cNvPr id="33" name="TextBox 33"/>
            <p:cNvSpPr txBox="1"/>
            <p:nvPr/>
          </p:nvSpPr>
          <p:spPr>
            <a:xfrm>
              <a:off x="0" y="854075"/>
              <a:ext cx="9182100" cy="530060"/>
            </a:xfrm>
            <a:prstGeom prst="rect">
              <a:avLst/>
            </a:prstGeom>
          </p:spPr>
          <p:txBody>
            <a:bodyPr lIns="0" tIns="0" rIns="0" bIns="0" rtlCol="0" anchor="t">
              <a:spAutoFit/>
            </a:bodyPr>
            <a:lstStyle/>
            <a:p>
              <a:pPr marL="0" lvl="0" indent="0" algn="l">
                <a:lnSpc>
                  <a:spcPts val="3079"/>
                </a:lnSpc>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Chat hỗ trợ, kiểm tra tin nhắn</a:t>
              </a: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a:t>
              </a:r>
            </a:p>
          </p:txBody>
        </p:sp>
        <p:sp>
          <p:nvSpPr>
            <p:cNvPr id="34" name="TextBox 34"/>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Liên hệ:</a:t>
              </a:r>
            </a:p>
          </p:txBody>
        </p:sp>
      </p:grpSp>
      <p:sp>
        <p:nvSpPr>
          <p:cNvPr id="35" name="TextBox 35"/>
          <p:cNvSpPr txBox="1"/>
          <p:nvPr/>
        </p:nvSpPr>
        <p:spPr>
          <a:xfrm>
            <a:off x="9661258" y="7323886"/>
            <a:ext cx="774058" cy="458470"/>
          </a:xfrm>
          <a:prstGeom prst="rect">
            <a:avLst/>
          </a:prstGeom>
        </p:spPr>
        <p:txBody>
          <a:bodyPr lIns="0" tIns="0" rIns="0" bIns="0" rtlCol="0" anchor="t">
            <a:spAutoFit/>
          </a:bodyPr>
          <a:lstStyle/>
          <a:p>
            <a:pPr algn="r">
              <a:lnSpc>
                <a:spcPts val="3640"/>
              </a:lnSpc>
            </a:pPr>
            <a:r>
              <a:rPr lang="en-US" sz="3200" b="1">
                <a:solidFill>
                  <a:srgbClr val="ECF0F1"/>
                </a:solidFill>
                <a:latin typeface="Times New Roman" panose="02020603050405020304" pitchFamily="18" charset="0"/>
                <a:ea typeface="Lovelace Text Bold"/>
                <a:cs typeface="Times New Roman" panose="02020603050405020304" pitchFamily="18" charset="0"/>
                <a:sym typeface="Lovelace Text Bold"/>
              </a:rPr>
              <a:t>08</a:t>
            </a:r>
          </a:p>
        </p:txBody>
      </p:sp>
      <p:sp>
        <p:nvSpPr>
          <p:cNvPr id="36" name="TextBox 36"/>
          <p:cNvSpPr txBox="1"/>
          <p:nvPr/>
        </p:nvSpPr>
        <p:spPr>
          <a:xfrm>
            <a:off x="124491" y="9746577"/>
            <a:ext cx="1221895" cy="494110"/>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Times New Roman" panose="02020603050405020304" pitchFamily="18" charset="0"/>
                <a:ea typeface="Inclusive Sans"/>
                <a:cs typeface="Times New Roman" panose="02020603050405020304" pitchFamily="18" charset="0"/>
                <a:sym typeface="Inclusive Sans"/>
              </a:rPr>
              <a:t>8/20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1888917" y="2346678"/>
            <a:ext cx="6886575" cy="2236556"/>
            <a:chOff x="0" y="-9525"/>
            <a:chExt cx="9182100" cy="2982075"/>
          </a:xfrm>
        </p:grpSpPr>
        <p:sp>
          <p:nvSpPr>
            <p:cNvPr id="3" name="TextBox 3"/>
            <p:cNvSpPr txBox="1"/>
            <p:nvPr/>
          </p:nvSpPr>
          <p:spPr>
            <a:xfrm>
              <a:off x="0" y="852311"/>
              <a:ext cx="9182100" cy="2120239"/>
            </a:xfrm>
            <a:prstGeom prst="rect">
              <a:avLst/>
            </a:prstGeom>
          </p:spPr>
          <p:txBody>
            <a:bodyPr lIns="0" tIns="0" rIns="0" bIns="0" rtlCol="0" anchor="t">
              <a:spAutoFit/>
            </a:bodyPr>
            <a:lstStyle/>
            <a:p>
              <a:pPr marL="474979" lvl="1" indent="-237490" algn="just">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Người dùng tạo tài khoản mới bằng thông tin cá nhân, Dữ liệu được lưu trữ trong cơ sở dữ liệu hệ thống</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4" name="TextBox 4"/>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Đă</a:t>
              </a:r>
              <a:r>
                <a:rPr lang="en-US" sz="3200" u="none" strike="noStrike" spc="-60">
                  <a:solidFill>
                    <a:srgbClr val="ECF0F1"/>
                  </a:solidFill>
                  <a:latin typeface="Times New Roman" panose="02020603050405020304" pitchFamily="18" charset="0"/>
                  <a:ea typeface="Inclusive Sans"/>
                  <a:cs typeface="Times New Roman" panose="02020603050405020304" pitchFamily="18" charset="0"/>
                  <a:sym typeface="Inclusive Sans"/>
                </a:rPr>
                <a:t>ng ký tài khoản:</a:t>
              </a:r>
            </a:p>
          </p:txBody>
        </p:sp>
      </p:grpSp>
      <p:sp>
        <p:nvSpPr>
          <p:cNvPr id="5" name="TextBox 5"/>
          <p:cNvSpPr txBox="1"/>
          <p:nvPr/>
        </p:nvSpPr>
        <p:spPr>
          <a:xfrm>
            <a:off x="810059" y="2296672"/>
            <a:ext cx="774058" cy="461665"/>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01</a:t>
            </a:r>
          </a:p>
        </p:txBody>
      </p:sp>
      <p:grpSp>
        <p:nvGrpSpPr>
          <p:cNvPr id="6" name="Group 6"/>
          <p:cNvGrpSpPr/>
          <p:nvPr/>
        </p:nvGrpSpPr>
        <p:grpSpPr>
          <a:xfrm>
            <a:off x="1888917" y="4185268"/>
            <a:ext cx="6886575" cy="2237906"/>
            <a:chOff x="0" y="-9525"/>
            <a:chExt cx="9182100" cy="2983875"/>
          </a:xfrm>
        </p:grpSpPr>
        <p:sp>
          <p:nvSpPr>
            <p:cNvPr id="7" name="TextBox 7"/>
            <p:cNvSpPr txBox="1"/>
            <p:nvPr/>
          </p:nvSpPr>
          <p:spPr>
            <a:xfrm>
              <a:off x="0" y="854111"/>
              <a:ext cx="9182100" cy="2120239"/>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Xác thực người dùng thông qua tài khoản</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Phân biệt người dùng đã đăng nhập và chưa đăng nhập</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8" name="TextBox 8"/>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Đăng nhập và đăng xuất:</a:t>
              </a:r>
            </a:p>
          </p:txBody>
        </p:sp>
      </p:grpSp>
      <p:sp>
        <p:nvSpPr>
          <p:cNvPr id="9" name="TextBox 9"/>
          <p:cNvSpPr txBox="1"/>
          <p:nvPr/>
        </p:nvSpPr>
        <p:spPr>
          <a:xfrm>
            <a:off x="810059" y="4203500"/>
            <a:ext cx="774058" cy="461665"/>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02</a:t>
            </a:r>
          </a:p>
        </p:txBody>
      </p:sp>
      <p:grpSp>
        <p:nvGrpSpPr>
          <p:cNvPr id="10" name="Group 10"/>
          <p:cNvGrpSpPr/>
          <p:nvPr/>
        </p:nvGrpSpPr>
        <p:grpSpPr>
          <a:xfrm>
            <a:off x="1760284" y="6413206"/>
            <a:ext cx="6923097" cy="2631230"/>
            <a:chOff x="4839" y="222220"/>
            <a:chExt cx="9230797" cy="3508307"/>
          </a:xfrm>
        </p:grpSpPr>
        <p:sp>
          <p:nvSpPr>
            <p:cNvPr id="11" name="TextBox 11"/>
            <p:cNvSpPr txBox="1"/>
            <p:nvPr/>
          </p:nvSpPr>
          <p:spPr>
            <a:xfrm>
              <a:off x="4839" y="1080228"/>
              <a:ext cx="9182100" cy="2650299"/>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Xem danh sách sản phẩm theo danh mục</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Xem chi tiết thông tin sản phẩm</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Hỗ trợ tìm kiếm sản phẩm theo tên hoặc danh mục</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12" name="TextBox 12"/>
            <p:cNvSpPr txBox="1"/>
            <p:nvPr/>
          </p:nvSpPr>
          <p:spPr>
            <a:xfrm>
              <a:off x="53536" y="222220"/>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Xem và tìm kiếm sản phẩm:</a:t>
              </a:r>
            </a:p>
          </p:txBody>
        </p:sp>
      </p:grpSp>
      <p:sp>
        <p:nvSpPr>
          <p:cNvPr id="13" name="TextBox 13"/>
          <p:cNvSpPr txBox="1"/>
          <p:nvPr/>
        </p:nvSpPr>
        <p:spPr>
          <a:xfrm>
            <a:off x="717949" y="6413206"/>
            <a:ext cx="774058" cy="461665"/>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03</a:t>
            </a:r>
          </a:p>
        </p:txBody>
      </p:sp>
      <p:sp>
        <p:nvSpPr>
          <p:cNvPr id="14" name="TextBox 14"/>
          <p:cNvSpPr txBox="1"/>
          <p:nvPr/>
        </p:nvSpPr>
        <p:spPr>
          <a:xfrm>
            <a:off x="2819400" y="328064"/>
            <a:ext cx="16890976" cy="1154162"/>
          </a:xfrm>
          <a:prstGeom prst="rect">
            <a:avLst/>
          </a:prstGeom>
        </p:spPr>
        <p:txBody>
          <a:bodyPr lIns="0" tIns="0" rIns="0" bIns="0" rtlCol="0" anchor="t">
            <a:spAutoFit/>
          </a:bodyPr>
          <a:lstStyle/>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CHỨC NĂNG NGƯỜI DÙNG</a:t>
            </a:r>
          </a:p>
        </p:txBody>
      </p:sp>
      <p:grpSp>
        <p:nvGrpSpPr>
          <p:cNvPr id="15" name="Group 15"/>
          <p:cNvGrpSpPr/>
          <p:nvPr/>
        </p:nvGrpSpPr>
        <p:grpSpPr>
          <a:xfrm>
            <a:off x="10620787" y="2346678"/>
            <a:ext cx="6886575" cy="2236556"/>
            <a:chOff x="0" y="-9525"/>
            <a:chExt cx="9182100" cy="2982075"/>
          </a:xfrm>
        </p:grpSpPr>
        <p:sp>
          <p:nvSpPr>
            <p:cNvPr id="16" name="TextBox 16"/>
            <p:cNvSpPr txBox="1"/>
            <p:nvPr/>
          </p:nvSpPr>
          <p:spPr>
            <a:xfrm>
              <a:off x="0" y="852311"/>
              <a:ext cx="9182100" cy="2120239"/>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Thêm sản phẩm vào giỏ hàng</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Cập nhật số lượng sản phẩm</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Xóa sản phẩm khỏi giỏ hàng</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17" name="TextBox 17"/>
            <p:cNvSpPr txBox="1"/>
            <p:nvPr/>
          </p:nvSpPr>
          <p:spPr>
            <a:xfrm>
              <a:off x="0" y="-9525"/>
              <a:ext cx="9182100" cy="615553"/>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G</a:t>
              </a:r>
              <a:r>
                <a:rPr lang="en-US" sz="3200" u="none" strike="noStrike" spc="-60">
                  <a:solidFill>
                    <a:srgbClr val="ECF0F1"/>
                  </a:solidFill>
                  <a:latin typeface="Times New Roman" panose="02020603050405020304" pitchFamily="18" charset="0"/>
                  <a:ea typeface="Inclusive Sans"/>
                  <a:cs typeface="Times New Roman" panose="02020603050405020304" pitchFamily="18" charset="0"/>
                  <a:sym typeface="Inclusive Sans"/>
                </a:rPr>
                <a:t>iỏ hàng:</a:t>
              </a:r>
            </a:p>
          </p:txBody>
        </p:sp>
      </p:grpSp>
      <p:sp>
        <p:nvSpPr>
          <p:cNvPr id="18" name="TextBox 18"/>
          <p:cNvSpPr txBox="1"/>
          <p:nvPr/>
        </p:nvSpPr>
        <p:spPr>
          <a:xfrm>
            <a:off x="9541929" y="2353503"/>
            <a:ext cx="774058" cy="458470"/>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04</a:t>
            </a:r>
          </a:p>
        </p:txBody>
      </p:sp>
      <p:grpSp>
        <p:nvGrpSpPr>
          <p:cNvPr id="19" name="Group 19"/>
          <p:cNvGrpSpPr/>
          <p:nvPr/>
        </p:nvGrpSpPr>
        <p:grpSpPr>
          <a:xfrm>
            <a:off x="10620787" y="4242099"/>
            <a:ext cx="6886575" cy="2635451"/>
            <a:chOff x="0" y="-9525"/>
            <a:chExt cx="9182100" cy="3513934"/>
          </a:xfrm>
        </p:grpSpPr>
        <p:sp>
          <p:nvSpPr>
            <p:cNvPr id="20" name="TextBox 20"/>
            <p:cNvSpPr txBox="1"/>
            <p:nvPr/>
          </p:nvSpPr>
          <p:spPr>
            <a:xfrm>
              <a:off x="0" y="854111"/>
              <a:ext cx="9182100" cy="2650298"/>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Nhập thông tin người nhận</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Xác nhận đơn hàng</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Hệ thống ghi nhận đơn hàng vào cơ sở dữ liệu</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21" name="TextBox 21"/>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Đặt hàng:</a:t>
              </a:r>
            </a:p>
          </p:txBody>
        </p:sp>
      </p:grpSp>
      <p:sp>
        <p:nvSpPr>
          <p:cNvPr id="22" name="TextBox 22"/>
          <p:cNvSpPr txBox="1"/>
          <p:nvPr/>
        </p:nvSpPr>
        <p:spPr>
          <a:xfrm>
            <a:off x="9541929" y="4260331"/>
            <a:ext cx="774058" cy="458470"/>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05</a:t>
            </a:r>
          </a:p>
        </p:txBody>
      </p:sp>
      <p:grpSp>
        <p:nvGrpSpPr>
          <p:cNvPr id="23" name="Group 23"/>
          <p:cNvGrpSpPr/>
          <p:nvPr/>
        </p:nvGrpSpPr>
        <p:grpSpPr>
          <a:xfrm>
            <a:off x="10620787" y="6556921"/>
            <a:ext cx="6886575" cy="1840334"/>
            <a:chOff x="0" y="-9525"/>
            <a:chExt cx="9182100" cy="2453779"/>
          </a:xfrm>
        </p:grpSpPr>
        <p:sp>
          <p:nvSpPr>
            <p:cNvPr id="24" name="TextBox 24"/>
            <p:cNvSpPr txBox="1"/>
            <p:nvPr/>
          </p:nvSpPr>
          <p:spPr>
            <a:xfrm>
              <a:off x="0" y="854075"/>
              <a:ext cx="9182100" cy="1590179"/>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Gửi yêu cầu hoặc thắc mắc đến quản trị viên</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Lưu thông tin liên hệ để quản trị viên xử lý</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25" name="TextBox 25"/>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Gửi liên hệ:</a:t>
              </a:r>
            </a:p>
          </p:txBody>
        </p:sp>
      </p:grpSp>
      <p:sp>
        <p:nvSpPr>
          <p:cNvPr id="26" name="TextBox 26"/>
          <p:cNvSpPr txBox="1"/>
          <p:nvPr/>
        </p:nvSpPr>
        <p:spPr>
          <a:xfrm>
            <a:off x="9541929" y="6556921"/>
            <a:ext cx="774058" cy="458470"/>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06</a:t>
            </a:r>
          </a:p>
        </p:txBody>
      </p:sp>
      <p:sp>
        <p:nvSpPr>
          <p:cNvPr id="27" name="TextBox 27"/>
          <p:cNvSpPr txBox="1"/>
          <p:nvPr/>
        </p:nvSpPr>
        <p:spPr>
          <a:xfrm>
            <a:off x="43097" y="9563100"/>
            <a:ext cx="1541020"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9/20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1623251" y="2423161"/>
            <a:ext cx="6886575" cy="1839011"/>
            <a:chOff x="0" y="-9525"/>
            <a:chExt cx="9182100" cy="2452015"/>
          </a:xfrm>
        </p:grpSpPr>
        <p:sp>
          <p:nvSpPr>
            <p:cNvPr id="3" name="TextBox 3"/>
            <p:cNvSpPr txBox="1"/>
            <p:nvPr/>
          </p:nvSpPr>
          <p:spPr>
            <a:xfrm>
              <a:off x="0" y="852311"/>
              <a:ext cx="9182100" cy="1590179"/>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Thêm mới, chỉnh sửa, xóa danh mục</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Phân loại sản phẩm theo danh mục</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4" name="TextBox 4"/>
            <p:cNvSpPr txBox="1"/>
            <p:nvPr/>
          </p:nvSpPr>
          <p:spPr>
            <a:xfrm>
              <a:off x="0" y="-9525"/>
              <a:ext cx="9182100" cy="615553"/>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Quả</a:t>
              </a:r>
              <a:r>
                <a:rPr lang="en-US" sz="3200" u="none" strike="noStrike" spc="-60">
                  <a:solidFill>
                    <a:srgbClr val="ECF0F1"/>
                  </a:solidFill>
                  <a:latin typeface="Times New Roman" panose="02020603050405020304" pitchFamily="18" charset="0"/>
                  <a:ea typeface="Inclusive Sans"/>
                  <a:cs typeface="Times New Roman" panose="02020603050405020304" pitchFamily="18" charset="0"/>
                  <a:sym typeface="Inclusive Sans"/>
                </a:rPr>
                <a:t>n lý danh mục sản phẩm:</a:t>
              </a:r>
            </a:p>
          </p:txBody>
        </p:sp>
      </p:grpSp>
      <p:sp>
        <p:nvSpPr>
          <p:cNvPr id="5" name="TextBox 5"/>
          <p:cNvSpPr txBox="1"/>
          <p:nvPr/>
        </p:nvSpPr>
        <p:spPr>
          <a:xfrm>
            <a:off x="544393" y="2373155"/>
            <a:ext cx="774058" cy="461665"/>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01</a:t>
            </a:r>
          </a:p>
        </p:txBody>
      </p:sp>
      <p:grpSp>
        <p:nvGrpSpPr>
          <p:cNvPr id="6" name="Group 6"/>
          <p:cNvGrpSpPr/>
          <p:nvPr/>
        </p:nvGrpSpPr>
        <p:grpSpPr>
          <a:xfrm>
            <a:off x="1623251" y="4213807"/>
            <a:ext cx="6886575" cy="3032995"/>
            <a:chOff x="0" y="-9525"/>
            <a:chExt cx="9182100" cy="4043993"/>
          </a:xfrm>
        </p:grpSpPr>
        <p:sp>
          <p:nvSpPr>
            <p:cNvPr id="7" name="TextBox 7"/>
            <p:cNvSpPr txBox="1"/>
            <p:nvPr/>
          </p:nvSpPr>
          <p:spPr>
            <a:xfrm>
              <a:off x="0" y="854111"/>
              <a:ext cx="9182100" cy="3180357"/>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Thêm mới sản phẩm</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Cập nhật thông tin sản phẩm (tên, giá, hình ảnh, mô tả)</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Xóa hoặc ẩn sản phẩm không còn kinh doanh</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8" name="TextBox 8"/>
            <p:cNvSpPr txBox="1"/>
            <p:nvPr/>
          </p:nvSpPr>
          <p:spPr>
            <a:xfrm>
              <a:off x="0" y="-9525"/>
              <a:ext cx="9182100" cy="615553"/>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Quản lý sản phẩm:</a:t>
              </a:r>
            </a:p>
          </p:txBody>
        </p:sp>
      </p:grpSp>
      <p:sp>
        <p:nvSpPr>
          <p:cNvPr id="9" name="TextBox 9"/>
          <p:cNvSpPr txBox="1"/>
          <p:nvPr/>
        </p:nvSpPr>
        <p:spPr>
          <a:xfrm>
            <a:off x="641671" y="4268576"/>
            <a:ext cx="774058" cy="461665"/>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02</a:t>
            </a:r>
          </a:p>
        </p:txBody>
      </p:sp>
      <p:grpSp>
        <p:nvGrpSpPr>
          <p:cNvPr id="10" name="Group 10"/>
          <p:cNvGrpSpPr/>
          <p:nvPr/>
        </p:nvGrpSpPr>
        <p:grpSpPr>
          <a:xfrm>
            <a:off x="1527637" y="6800088"/>
            <a:ext cx="6886575" cy="2635424"/>
            <a:chOff x="0" y="-9525"/>
            <a:chExt cx="9182100" cy="3513899"/>
          </a:xfrm>
        </p:grpSpPr>
        <p:sp>
          <p:nvSpPr>
            <p:cNvPr id="11" name="TextBox 11"/>
            <p:cNvSpPr txBox="1"/>
            <p:nvPr/>
          </p:nvSpPr>
          <p:spPr>
            <a:xfrm>
              <a:off x="0" y="854075"/>
              <a:ext cx="9182100" cy="2650299"/>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Xem danh sách đơn hàng</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Cập nhật trạng thái đơn hàng (chờ xử lý, đã xử lý, hoàn tất)</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Theo dõi thông tin khách hàng đặt hàng</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12" name="TextBox 12"/>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Quản lý đơn hàng:</a:t>
              </a:r>
            </a:p>
          </p:txBody>
        </p:sp>
      </p:grpSp>
      <p:sp>
        <p:nvSpPr>
          <p:cNvPr id="13" name="TextBox 13"/>
          <p:cNvSpPr txBox="1"/>
          <p:nvPr/>
        </p:nvSpPr>
        <p:spPr>
          <a:xfrm>
            <a:off x="441521" y="6800088"/>
            <a:ext cx="774058" cy="461665"/>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03</a:t>
            </a:r>
          </a:p>
        </p:txBody>
      </p:sp>
      <p:sp>
        <p:nvSpPr>
          <p:cNvPr id="14" name="TextBox 14"/>
          <p:cNvSpPr txBox="1"/>
          <p:nvPr/>
        </p:nvSpPr>
        <p:spPr>
          <a:xfrm>
            <a:off x="3200400" y="470560"/>
            <a:ext cx="16183506" cy="1154162"/>
          </a:xfrm>
          <a:prstGeom prst="rect">
            <a:avLst/>
          </a:prstGeom>
        </p:spPr>
        <p:txBody>
          <a:bodyPr lIns="0" tIns="0" rIns="0" bIns="0" rtlCol="0" anchor="t">
            <a:spAutoFit/>
          </a:bodyPr>
          <a:lstStyle/>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CHỨC NĂNG QUẢN TRỊ</a:t>
            </a:r>
          </a:p>
        </p:txBody>
      </p:sp>
      <p:grpSp>
        <p:nvGrpSpPr>
          <p:cNvPr id="15" name="Group 15"/>
          <p:cNvGrpSpPr/>
          <p:nvPr/>
        </p:nvGrpSpPr>
        <p:grpSpPr>
          <a:xfrm>
            <a:off x="10355121" y="2423161"/>
            <a:ext cx="6886575" cy="1839011"/>
            <a:chOff x="0" y="-9525"/>
            <a:chExt cx="9182100" cy="2452015"/>
          </a:xfrm>
        </p:grpSpPr>
        <p:sp>
          <p:nvSpPr>
            <p:cNvPr id="16" name="TextBox 16"/>
            <p:cNvSpPr txBox="1"/>
            <p:nvPr/>
          </p:nvSpPr>
          <p:spPr>
            <a:xfrm>
              <a:off x="0" y="852311"/>
              <a:ext cx="9182100" cy="1590179"/>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Xem danh sách tài khoản người dùng</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Khóa hoặc mở khóa tài khoản khi cần thiết</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17" name="TextBox 17"/>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Quản lý ngườ</a:t>
              </a:r>
              <a:r>
                <a:rPr lang="en-US" sz="3200" u="none" strike="noStrike" spc="-60">
                  <a:solidFill>
                    <a:srgbClr val="ECF0F1"/>
                  </a:solidFill>
                  <a:latin typeface="Times New Roman" panose="02020603050405020304" pitchFamily="18" charset="0"/>
                  <a:ea typeface="Inclusive Sans"/>
                  <a:cs typeface="Times New Roman" panose="02020603050405020304" pitchFamily="18" charset="0"/>
                  <a:sym typeface="Inclusive Sans"/>
                </a:rPr>
                <a:t>i dùng:</a:t>
              </a:r>
            </a:p>
          </p:txBody>
        </p:sp>
      </p:grpSp>
      <p:sp>
        <p:nvSpPr>
          <p:cNvPr id="18" name="TextBox 18"/>
          <p:cNvSpPr txBox="1"/>
          <p:nvPr/>
        </p:nvSpPr>
        <p:spPr>
          <a:xfrm>
            <a:off x="9276263" y="2429986"/>
            <a:ext cx="774058" cy="458470"/>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04</a:t>
            </a:r>
          </a:p>
        </p:txBody>
      </p:sp>
      <p:grpSp>
        <p:nvGrpSpPr>
          <p:cNvPr id="19" name="Group 19"/>
          <p:cNvGrpSpPr/>
          <p:nvPr/>
        </p:nvGrpSpPr>
        <p:grpSpPr>
          <a:xfrm>
            <a:off x="10355121" y="4318582"/>
            <a:ext cx="6886575" cy="1840360"/>
            <a:chOff x="0" y="-9525"/>
            <a:chExt cx="9182100" cy="2453814"/>
          </a:xfrm>
        </p:grpSpPr>
        <p:sp>
          <p:nvSpPr>
            <p:cNvPr id="20" name="TextBox 20"/>
            <p:cNvSpPr txBox="1"/>
            <p:nvPr/>
          </p:nvSpPr>
          <p:spPr>
            <a:xfrm>
              <a:off x="0" y="854110"/>
              <a:ext cx="9182100" cy="1590179"/>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Quản lý tin tức, banner</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Cập nhật nội dung hiển thị trên website</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21" name="TextBox 21"/>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Quản lý nội dung:</a:t>
              </a:r>
            </a:p>
          </p:txBody>
        </p:sp>
      </p:grpSp>
      <p:sp>
        <p:nvSpPr>
          <p:cNvPr id="22" name="TextBox 22"/>
          <p:cNvSpPr txBox="1"/>
          <p:nvPr/>
        </p:nvSpPr>
        <p:spPr>
          <a:xfrm>
            <a:off x="9276263" y="4336814"/>
            <a:ext cx="774058" cy="458470"/>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05</a:t>
            </a:r>
          </a:p>
        </p:txBody>
      </p:sp>
      <p:grpSp>
        <p:nvGrpSpPr>
          <p:cNvPr id="23" name="Group 23"/>
          <p:cNvGrpSpPr/>
          <p:nvPr/>
        </p:nvGrpSpPr>
        <p:grpSpPr>
          <a:xfrm>
            <a:off x="10372725" y="6384118"/>
            <a:ext cx="6886575" cy="1840334"/>
            <a:chOff x="0" y="-9525"/>
            <a:chExt cx="9182100" cy="2453779"/>
          </a:xfrm>
        </p:grpSpPr>
        <p:sp>
          <p:nvSpPr>
            <p:cNvPr id="24" name="TextBox 24"/>
            <p:cNvSpPr txBox="1"/>
            <p:nvPr/>
          </p:nvSpPr>
          <p:spPr>
            <a:xfrm>
              <a:off x="0" y="854075"/>
              <a:ext cx="9182100" cy="1590179"/>
            </a:xfrm>
            <a:prstGeom prst="rect">
              <a:avLst/>
            </a:prstGeom>
          </p:spPr>
          <p:txBody>
            <a:bodyPr lIns="0" tIns="0" rIns="0" bIns="0" rtlCol="0" anchor="t">
              <a:spAutoFit/>
            </a:bodyPr>
            <a:lstStyle/>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Xem và xử lý các liên hệ từ khách hàng</a:t>
              </a:r>
            </a:p>
            <a:p>
              <a:pPr marL="474979" lvl="1" indent="-237490" algn="l">
                <a:lnSpc>
                  <a:spcPts val="3079"/>
                </a:lnSpc>
                <a:buFont typeface="Arial"/>
                <a:buChar char="•"/>
              </a:pPr>
              <a:r>
                <a:rPr lang="en-US" sz="2800">
                  <a:solidFill>
                    <a:srgbClr val="ECF0F1"/>
                  </a:solidFill>
                  <a:latin typeface="Times New Roman" panose="02020603050405020304" pitchFamily="18" charset="0"/>
                  <a:ea typeface="Inclusive Sans"/>
                  <a:cs typeface="Times New Roman" panose="02020603050405020304" pitchFamily="18" charset="0"/>
                  <a:sym typeface="Inclusive Sans"/>
                </a:rPr>
                <a:t>Phản hồi thông tin khi cần thiết</a:t>
              </a:r>
            </a:p>
            <a:p>
              <a:pPr marL="0" lvl="0" indent="0" algn="l">
                <a:lnSpc>
                  <a:spcPts val="3079"/>
                </a:lnSpc>
              </a:pPr>
              <a:endParaRPr lang="en-US" sz="28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25" name="TextBox 25"/>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200" spc="-60">
                  <a:solidFill>
                    <a:srgbClr val="ECF0F1"/>
                  </a:solidFill>
                  <a:latin typeface="Times New Roman" panose="02020603050405020304" pitchFamily="18" charset="0"/>
                  <a:ea typeface="Inclusive Sans"/>
                  <a:cs typeface="Times New Roman" panose="02020603050405020304" pitchFamily="18" charset="0"/>
                  <a:sym typeface="Inclusive Sans"/>
                </a:rPr>
                <a:t>Quản lý phản hồi:</a:t>
              </a:r>
            </a:p>
          </p:txBody>
        </p:sp>
      </p:grpSp>
      <p:sp>
        <p:nvSpPr>
          <p:cNvPr id="26" name="TextBox 26"/>
          <p:cNvSpPr txBox="1"/>
          <p:nvPr/>
        </p:nvSpPr>
        <p:spPr>
          <a:xfrm>
            <a:off x="9293867" y="6402350"/>
            <a:ext cx="774058" cy="458470"/>
          </a:xfrm>
          <a:prstGeom prst="rect">
            <a:avLst/>
          </a:prstGeom>
        </p:spPr>
        <p:txBody>
          <a:bodyPr lIns="0" tIns="0" rIns="0" bIns="0" rtlCol="0" anchor="t">
            <a:spAutoFit/>
          </a:bodyPr>
          <a:lstStyle/>
          <a:p>
            <a:pPr algn="r">
              <a:lnSpc>
                <a:spcPts val="3640"/>
              </a:lnSpc>
            </a:pPr>
            <a:r>
              <a:rPr lang="en-US" sz="2800" b="1">
                <a:solidFill>
                  <a:srgbClr val="ECF0F1"/>
                </a:solidFill>
                <a:latin typeface="Times New Roman" panose="02020603050405020304" pitchFamily="18" charset="0"/>
                <a:ea typeface="Lovelace Text Bold"/>
                <a:cs typeface="Times New Roman" panose="02020603050405020304" pitchFamily="18" charset="0"/>
                <a:sym typeface="Lovelace Text Bold"/>
              </a:rPr>
              <a:t>06</a:t>
            </a:r>
          </a:p>
        </p:txBody>
      </p:sp>
      <p:sp>
        <p:nvSpPr>
          <p:cNvPr id="27" name="TextBox 27"/>
          <p:cNvSpPr txBox="1"/>
          <p:nvPr/>
        </p:nvSpPr>
        <p:spPr>
          <a:xfrm>
            <a:off x="394171" y="9435512"/>
            <a:ext cx="868759" cy="488082"/>
          </a:xfrm>
          <a:prstGeom prst="rect">
            <a:avLst/>
          </a:prstGeom>
        </p:spPr>
        <p:txBody>
          <a:bodyPr lIns="0" tIns="0" rIns="0" bIns="0" rtlCol="0" anchor="t">
            <a:spAutoFit/>
          </a:bodyPr>
          <a:lstStyle/>
          <a:p>
            <a:pPr algn="ctr">
              <a:lnSpc>
                <a:spcPts val="4200"/>
              </a:lnSpc>
              <a:spcBef>
                <a:spcPct val="0"/>
              </a:spcBef>
            </a:pPr>
            <a:r>
              <a:rPr lang="en-US" sz="2800" spc="-60" dirty="0">
                <a:solidFill>
                  <a:srgbClr val="ECF0F1"/>
                </a:solidFill>
                <a:latin typeface="Times New Roman" panose="02020603050405020304" pitchFamily="18" charset="0"/>
                <a:ea typeface="Inclusive Sans"/>
                <a:cs typeface="Times New Roman" panose="02020603050405020304" pitchFamily="18" charset="0"/>
                <a:sym typeface="Inclusive Sans"/>
              </a:rPr>
              <a:t>10/20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Freeform 2"/>
          <p:cNvSpPr/>
          <p:nvPr/>
        </p:nvSpPr>
        <p:spPr>
          <a:xfrm>
            <a:off x="3026587" y="1533032"/>
            <a:ext cx="12643876" cy="6400962"/>
          </a:xfrm>
          <a:custGeom>
            <a:avLst/>
            <a:gdLst/>
            <a:ahLst/>
            <a:cxnLst/>
            <a:rect l="l" t="t" r="r" b="b"/>
            <a:pathLst>
              <a:path w="12643876" h="6400962">
                <a:moveTo>
                  <a:pt x="0" y="0"/>
                </a:moveTo>
                <a:lnTo>
                  <a:pt x="12643876" y="0"/>
                </a:lnTo>
                <a:lnTo>
                  <a:pt x="12643876" y="6400962"/>
                </a:lnTo>
                <a:lnTo>
                  <a:pt x="0" y="6400962"/>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3026587" y="546078"/>
            <a:ext cx="16863136" cy="875240"/>
          </a:xfrm>
          <a:prstGeom prst="rect">
            <a:avLst/>
          </a:prstGeom>
        </p:spPr>
        <p:txBody>
          <a:bodyPr lIns="0" tIns="0" rIns="0" bIns="0" rtlCol="0" anchor="t">
            <a:spAutoFit/>
          </a:bodyPr>
          <a:lstStyle/>
          <a:p>
            <a:pPr marL="0" lvl="0" indent="0" algn="l">
              <a:lnSpc>
                <a:spcPts val="66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THIẾT KẾ CƠ SỞ DỮ LIỆU</a:t>
            </a:r>
          </a:p>
        </p:txBody>
      </p:sp>
      <p:sp>
        <p:nvSpPr>
          <p:cNvPr id="4" name="TextBox 4"/>
          <p:cNvSpPr txBox="1"/>
          <p:nvPr/>
        </p:nvSpPr>
        <p:spPr>
          <a:xfrm>
            <a:off x="2184284" y="8267700"/>
            <a:ext cx="14328482" cy="795089"/>
          </a:xfrm>
          <a:prstGeom prst="rect">
            <a:avLst/>
          </a:prstGeom>
        </p:spPr>
        <p:txBody>
          <a:bodyPr wrap="square" lIns="0" tIns="0" rIns="0" bIns="0" rtlCol="0" anchor="t">
            <a:spAutoFit/>
          </a:bodyPr>
          <a:lstStyle/>
          <a:p>
            <a:pPr algn="ctr">
              <a:lnSpc>
                <a:spcPts val="3079"/>
              </a:lnSpc>
              <a:spcBef>
                <a:spcPct val="0"/>
              </a:spcBef>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Các bảng  gồm : Người dùng , Danh mục , Sản phẩm , Đơn hàng , Chi tiết đơn hàng , Tin tức, Phản hồi , Liên hệ.</a:t>
            </a:r>
          </a:p>
        </p:txBody>
      </p:sp>
      <p:sp>
        <p:nvSpPr>
          <p:cNvPr id="5" name="TextBox 5"/>
          <p:cNvSpPr txBox="1"/>
          <p:nvPr/>
        </p:nvSpPr>
        <p:spPr>
          <a:xfrm>
            <a:off x="145880" y="9397270"/>
            <a:ext cx="1149520"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11/20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Freeform 2"/>
          <p:cNvSpPr/>
          <p:nvPr/>
        </p:nvSpPr>
        <p:spPr>
          <a:xfrm>
            <a:off x="173499" y="3369789"/>
            <a:ext cx="9524072" cy="4872247"/>
          </a:xfrm>
          <a:custGeom>
            <a:avLst/>
            <a:gdLst/>
            <a:ahLst/>
            <a:cxnLst/>
            <a:rect l="l" t="t" r="r" b="b"/>
            <a:pathLst>
              <a:path w="9524072" h="4872247">
                <a:moveTo>
                  <a:pt x="0" y="0"/>
                </a:moveTo>
                <a:lnTo>
                  <a:pt x="9524072" y="0"/>
                </a:lnTo>
                <a:lnTo>
                  <a:pt x="9524072" y="4872247"/>
                </a:lnTo>
                <a:lnTo>
                  <a:pt x="0" y="4872247"/>
                </a:lnTo>
                <a:lnTo>
                  <a:pt x="0" y="0"/>
                </a:lnTo>
                <a:close/>
              </a:path>
            </a:pathLst>
          </a:custGeom>
          <a:blipFill>
            <a:blip r:embed="rId2"/>
            <a:stretch>
              <a:fillRect r="-1051"/>
            </a:stretch>
          </a:blipFill>
        </p:spPr>
        <p:txBody>
          <a:bodyPr/>
          <a:lstStyle/>
          <a:p>
            <a:endParaRPr lang="en-US"/>
          </a:p>
        </p:txBody>
      </p:sp>
      <p:grpSp>
        <p:nvGrpSpPr>
          <p:cNvPr id="3" name="Group 3"/>
          <p:cNvGrpSpPr/>
          <p:nvPr/>
        </p:nvGrpSpPr>
        <p:grpSpPr>
          <a:xfrm>
            <a:off x="10734675" y="888260"/>
            <a:ext cx="6886575" cy="4155942"/>
            <a:chOff x="0" y="-9525"/>
            <a:chExt cx="9182100" cy="5541257"/>
          </a:xfrm>
        </p:grpSpPr>
        <p:sp>
          <p:nvSpPr>
            <p:cNvPr id="4" name="TextBox 4"/>
            <p:cNvSpPr txBox="1"/>
            <p:nvPr/>
          </p:nvSpPr>
          <p:spPr>
            <a:xfrm>
              <a:off x="0" y="880885"/>
              <a:ext cx="9182100" cy="4650847"/>
            </a:xfrm>
            <a:prstGeom prst="rect">
              <a:avLst/>
            </a:prstGeom>
          </p:spPr>
          <p:txBody>
            <a:bodyPr lIns="0" tIns="0" rIns="0" bIns="0" rtlCol="0" anchor="t">
              <a:spAutoFit/>
            </a:bodyPr>
            <a:lstStyle/>
            <a:p>
              <a:pPr marL="0" lvl="0" indent="0" algn="just">
                <a:lnSpc>
                  <a:spcPts val="3359"/>
                </a:lnSpc>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	Khách hàng xem và tìm kiếm sản phẩm, thêm vào giỏ, tạo đơn và thanh toán (COD hoặc chuyển khoản), theo dõi trạng thái đơn, gửi liên hệ, nhắn tin và viết phản hồi/đánh giá. Luồng chính: chọn sản phẩm → giỏ hàng → tạo đơn (orders + order_details) → thanh toán → xác nhận → giao hàng.</a:t>
              </a:r>
            </a:p>
          </p:txBody>
        </p:sp>
        <p:sp>
          <p:nvSpPr>
            <p:cNvPr id="5" name="TextBox 5"/>
            <p:cNvSpPr txBox="1"/>
            <p:nvPr/>
          </p:nvSpPr>
          <p:spPr>
            <a:xfrm>
              <a:off x="0" y="-9525"/>
              <a:ext cx="9182100" cy="657225"/>
            </a:xfrm>
            <a:prstGeom prst="rect">
              <a:avLst/>
            </a:prstGeom>
          </p:spPr>
          <p:txBody>
            <a:bodyPr lIns="0" tIns="0" rIns="0" bIns="0" rtlCol="0" anchor="t">
              <a:spAutoFit/>
            </a:bodyPr>
            <a:lstStyle/>
            <a:p>
              <a:pPr marL="0" lvl="0" indent="0" algn="l">
                <a:lnSpc>
                  <a:spcPts val="3839"/>
                </a:lnSpc>
              </a:pPr>
              <a:endParaRPr/>
            </a:p>
          </p:txBody>
        </p:sp>
      </p:grpSp>
      <p:sp>
        <p:nvSpPr>
          <p:cNvPr id="6" name="TextBox 6"/>
          <p:cNvSpPr txBox="1"/>
          <p:nvPr/>
        </p:nvSpPr>
        <p:spPr>
          <a:xfrm>
            <a:off x="9655817" y="1561821"/>
            <a:ext cx="774058" cy="448310"/>
          </a:xfrm>
          <a:prstGeom prst="rect">
            <a:avLst/>
          </a:prstGeom>
        </p:spPr>
        <p:txBody>
          <a:bodyPr lIns="0" tIns="0" rIns="0" bIns="0" rtlCol="0" anchor="t">
            <a:spAutoFit/>
          </a:bodyPr>
          <a:lstStyle/>
          <a:p>
            <a:pPr algn="r">
              <a:lnSpc>
                <a:spcPts val="3640"/>
              </a:lnSpc>
            </a:pPr>
            <a:r>
              <a:rPr lang="en-US" sz="2600" b="1">
                <a:solidFill>
                  <a:srgbClr val="ECF0F1"/>
                </a:solidFill>
                <a:latin typeface="Lovelace Text Bold"/>
                <a:ea typeface="Lovelace Text Bold"/>
                <a:cs typeface="Lovelace Text Bold"/>
                <a:sym typeface="Lovelace Text Bold"/>
              </a:rPr>
              <a:t>01</a:t>
            </a:r>
          </a:p>
        </p:txBody>
      </p:sp>
      <p:grpSp>
        <p:nvGrpSpPr>
          <p:cNvPr id="7" name="Group 7"/>
          <p:cNvGrpSpPr/>
          <p:nvPr/>
        </p:nvGrpSpPr>
        <p:grpSpPr>
          <a:xfrm>
            <a:off x="10823653" y="4303124"/>
            <a:ext cx="6886575" cy="4103368"/>
            <a:chOff x="0" y="-9525"/>
            <a:chExt cx="9182100" cy="5471158"/>
          </a:xfrm>
        </p:grpSpPr>
        <p:sp>
          <p:nvSpPr>
            <p:cNvPr id="8" name="TextBox 8"/>
            <p:cNvSpPr txBox="1"/>
            <p:nvPr/>
          </p:nvSpPr>
          <p:spPr>
            <a:xfrm>
              <a:off x="0" y="1392141"/>
              <a:ext cx="9182100" cy="4069492"/>
            </a:xfrm>
            <a:prstGeom prst="rect">
              <a:avLst/>
            </a:prstGeom>
          </p:spPr>
          <p:txBody>
            <a:bodyPr lIns="0" tIns="0" rIns="0" bIns="0" rtlCol="0" anchor="t">
              <a:spAutoFit/>
            </a:bodyPr>
            <a:lstStyle/>
            <a:p>
              <a:pPr marL="0" lvl="0" indent="0" algn="just">
                <a:lnSpc>
                  <a:spcPts val="3359"/>
                </a:lnSpc>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	Quản trị viên quản lý sản phẩm, danh mục, đơn hàng, phản hồi và báo cáo thống kê; có nhiệm vụ xác thực chứng từ chuyển khoản và cập nhật trạng thái đơn. Một người dùng có thể có nhiều đơn, một đơn gồm nhiều chi tiết đơn, một danh mục chứa nhiều sản phẩm</a:t>
              </a:r>
            </a:p>
          </p:txBody>
        </p:sp>
        <p:sp>
          <p:nvSpPr>
            <p:cNvPr id="9" name="TextBox 9"/>
            <p:cNvSpPr txBox="1"/>
            <p:nvPr/>
          </p:nvSpPr>
          <p:spPr>
            <a:xfrm>
              <a:off x="0" y="-9525"/>
              <a:ext cx="9182100" cy="657225"/>
            </a:xfrm>
            <a:prstGeom prst="rect">
              <a:avLst/>
            </a:prstGeom>
          </p:spPr>
          <p:txBody>
            <a:bodyPr lIns="0" tIns="0" rIns="0" bIns="0" rtlCol="0" anchor="t">
              <a:spAutoFit/>
            </a:bodyPr>
            <a:lstStyle/>
            <a:p>
              <a:pPr marL="0" lvl="0" indent="0" algn="l">
                <a:lnSpc>
                  <a:spcPts val="3839"/>
                </a:lnSpc>
              </a:pPr>
              <a:endParaRPr/>
            </a:p>
          </p:txBody>
        </p:sp>
      </p:grpSp>
      <p:sp>
        <p:nvSpPr>
          <p:cNvPr id="10" name="TextBox 10"/>
          <p:cNvSpPr txBox="1"/>
          <p:nvPr/>
        </p:nvSpPr>
        <p:spPr>
          <a:xfrm>
            <a:off x="9830921" y="5357603"/>
            <a:ext cx="774058" cy="448310"/>
          </a:xfrm>
          <a:prstGeom prst="rect">
            <a:avLst/>
          </a:prstGeom>
        </p:spPr>
        <p:txBody>
          <a:bodyPr lIns="0" tIns="0" rIns="0" bIns="0" rtlCol="0" anchor="t">
            <a:spAutoFit/>
          </a:bodyPr>
          <a:lstStyle/>
          <a:p>
            <a:pPr algn="r">
              <a:lnSpc>
                <a:spcPts val="3640"/>
              </a:lnSpc>
            </a:pPr>
            <a:r>
              <a:rPr lang="en-US" sz="2600" b="1">
                <a:solidFill>
                  <a:srgbClr val="ECF0F1"/>
                </a:solidFill>
                <a:latin typeface="Lovelace Text Bold"/>
                <a:ea typeface="Lovelace Text Bold"/>
                <a:cs typeface="Lovelace Text Bold"/>
                <a:sym typeface="Lovelace Text Bold"/>
              </a:rPr>
              <a:t>02</a:t>
            </a:r>
          </a:p>
        </p:txBody>
      </p:sp>
      <p:sp>
        <p:nvSpPr>
          <p:cNvPr id="11" name="TextBox 11"/>
          <p:cNvSpPr txBox="1"/>
          <p:nvPr/>
        </p:nvSpPr>
        <p:spPr>
          <a:xfrm>
            <a:off x="169870" y="401906"/>
            <a:ext cx="11601450" cy="2308324"/>
          </a:xfrm>
          <a:prstGeom prst="rect">
            <a:avLst/>
          </a:prstGeom>
        </p:spPr>
        <p:txBody>
          <a:bodyPr wrap="square" lIns="0" tIns="0" rIns="0" bIns="0" rtlCol="0" anchor="t">
            <a:spAutoFit/>
          </a:bodyPr>
          <a:lstStyle/>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USECASE TỔNG QUÁT</a:t>
            </a:r>
          </a:p>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	</a:t>
            </a:r>
          </a:p>
        </p:txBody>
      </p:sp>
      <p:sp>
        <p:nvSpPr>
          <p:cNvPr id="12" name="TextBox 12"/>
          <p:cNvSpPr txBox="1"/>
          <p:nvPr/>
        </p:nvSpPr>
        <p:spPr>
          <a:xfrm>
            <a:off x="0" y="9563100"/>
            <a:ext cx="1911322"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12/20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Freeform 2"/>
          <p:cNvSpPr/>
          <p:nvPr/>
        </p:nvSpPr>
        <p:spPr>
          <a:xfrm>
            <a:off x="293686" y="2056844"/>
            <a:ext cx="11483393" cy="6272803"/>
          </a:xfrm>
          <a:custGeom>
            <a:avLst/>
            <a:gdLst/>
            <a:ahLst/>
            <a:cxnLst/>
            <a:rect l="l" t="t" r="r" b="b"/>
            <a:pathLst>
              <a:path w="11483393" h="6272803">
                <a:moveTo>
                  <a:pt x="0" y="0"/>
                </a:moveTo>
                <a:lnTo>
                  <a:pt x="11483393" y="0"/>
                </a:lnTo>
                <a:lnTo>
                  <a:pt x="11483393" y="6272803"/>
                </a:lnTo>
                <a:lnTo>
                  <a:pt x="0" y="6272803"/>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1755308" y="342900"/>
            <a:ext cx="6146386" cy="10621901"/>
            <a:chOff x="0" y="-9525"/>
            <a:chExt cx="7361862" cy="14162533"/>
          </a:xfrm>
        </p:grpSpPr>
        <p:sp>
          <p:nvSpPr>
            <p:cNvPr id="4" name="TextBox 4"/>
            <p:cNvSpPr txBox="1"/>
            <p:nvPr/>
          </p:nvSpPr>
          <p:spPr>
            <a:xfrm>
              <a:off x="17384" y="482600"/>
              <a:ext cx="7344478" cy="13670408"/>
            </a:xfrm>
            <a:prstGeom prst="rect">
              <a:avLst/>
            </a:prstGeom>
          </p:spPr>
          <p:txBody>
            <a:bodyPr lIns="0" tIns="0" rIns="0" bIns="0" rtlCol="0" anchor="t">
              <a:spAutoFit/>
            </a:bodyPr>
            <a:lstStyle/>
            <a:p>
              <a:pPr marL="496569" lvl="1" indent="-248284" algn="just">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Các thực thể gồm: Người dùng, Danh mục, Sản phẩm, Đơn hàng, Chi tiết đơn hàng, Phản hồi, Liên hệ, Tin nhắn, Tin tức.</a:t>
              </a:r>
            </a:p>
            <a:p>
              <a:pPr marL="496569" lvl="1" indent="-248284" algn="just">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Người dùng có thể đặt nhiều đơn hàng, gửi liên hệ, tin nhắn và viết phản hồi.</a:t>
              </a:r>
            </a:p>
            <a:p>
              <a:pPr marL="496569" lvl="1" indent="-248284" algn="just">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Mỗi đơn hàng bao gồm nhiều chi tiết đơn hàng; mỗi chi tiết liên kết với một sản phẩm.</a:t>
              </a:r>
            </a:p>
            <a:p>
              <a:pPr marL="496569" lvl="1" indent="-248284" algn="just">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Danh mục chứa nhiều sản phẩm; mỗi sản phẩm thuộc một danh mục.</a:t>
              </a:r>
            </a:p>
            <a:p>
              <a:pPr marL="0" lvl="0" indent="0" algn="just">
                <a:lnSpc>
                  <a:spcPct val="150000"/>
                </a:lnSpc>
              </a:pPr>
              <a:endParaRPr lang="en-US" sz="32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5" name="TextBox 5"/>
            <p:cNvSpPr txBox="1"/>
            <p:nvPr/>
          </p:nvSpPr>
          <p:spPr>
            <a:xfrm>
              <a:off x="0" y="-9525"/>
              <a:ext cx="7344478" cy="631825"/>
            </a:xfrm>
            <a:prstGeom prst="rect">
              <a:avLst/>
            </a:prstGeom>
          </p:spPr>
          <p:txBody>
            <a:bodyPr lIns="0" tIns="0" rIns="0" bIns="0" rtlCol="0" anchor="t">
              <a:spAutoFit/>
            </a:bodyPr>
            <a:lstStyle/>
            <a:p>
              <a:pPr marL="0" lvl="0" indent="0" algn="just">
                <a:lnSpc>
                  <a:spcPts val="3719"/>
                </a:lnSpc>
              </a:pPr>
              <a:endParaRPr/>
            </a:p>
          </p:txBody>
        </p:sp>
      </p:grpSp>
      <p:sp>
        <p:nvSpPr>
          <p:cNvPr id="6" name="TextBox 6"/>
          <p:cNvSpPr txBox="1"/>
          <p:nvPr/>
        </p:nvSpPr>
        <p:spPr>
          <a:xfrm>
            <a:off x="1022123" y="571500"/>
            <a:ext cx="8324850" cy="1154162"/>
          </a:xfrm>
          <a:prstGeom prst="rect">
            <a:avLst/>
          </a:prstGeom>
        </p:spPr>
        <p:txBody>
          <a:bodyPr lIns="0" tIns="0" rIns="0" bIns="0" rtlCol="0" anchor="t">
            <a:spAutoFit/>
          </a:bodyPr>
          <a:lstStyle/>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MÔ HÌNH MCD</a:t>
            </a:r>
          </a:p>
        </p:txBody>
      </p:sp>
      <p:sp>
        <p:nvSpPr>
          <p:cNvPr id="7" name="TextBox 7"/>
          <p:cNvSpPr txBox="1"/>
          <p:nvPr/>
        </p:nvSpPr>
        <p:spPr>
          <a:xfrm>
            <a:off x="152400" y="9563100"/>
            <a:ext cx="1533563"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13/20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Freeform 2"/>
          <p:cNvSpPr/>
          <p:nvPr/>
        </p:nvSpPr>
        <p:spPr>
          <a:xfrm>
            <a:off x="394883" y="1964205"/>
            <a:ext cx="11003536" cy="7399878"/>
          </a:xfrm>
          <a:custGeom>
            <a:avLst/>
            <a:gdLst/>
            <a:ahLst/>
            <a:cxnLst/>
            <a:rect l="l" t="t" r="r" b="b"/>
            <a:pathLst>
              <a:path w="11003536" h="7399878">
                <a:moveTo>
                  <a:pt x="0" y="0"/>
                </a:moveTo>
                <a:lnTo>
                  <a:pt x="11003536" y="0"/>
                </a:lnTo>
                <a:lnTo>
                  <a:pt x="11003536" y="7399878"/>
                </a:lnTo>
                <a:lnTo>
                  <a:pt x="0" y="7399878"/>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1398419" y="699135"/>
            <a:ext cx="6447536" cy="8863965"/>
          </a:xfrm>
          <a:prstGeom prst="rect">
            <a:avLst/>
          </a:prstGeom>
        </p:spPr>
        <p:txBody>
          <a:bodyPr lIns="0" tIns="0" rIns="0" bIns="0" rtlCol="0" anchor="t">
            <a:spAutoFit/>
          </a:bodyPr>
          <a:lstStyle/>
          <a:p>
            <a:pPr marL="496569" lvl="1" indent="-248284" algn="just">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Các lớp chính gồm: Người dùng, Đơn hàng, Chi tiết đơn hàng, Sản phẩm, Danh mục, Giỏ hàng, Chi tiết giỏ hàng, Hóa đơn, Thanh toán, Phản hồi, Liên hệ, Tin nhắn, Tin tức.</a:t>
            </a:r>
          </a:p>
          <a:p>
            <a:pPr marL="496569" lvl="1" indent="-248284" algn="just">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Người dùng có thể đặt nhiều đơn hàng, sở hữu giỏ hàng, gửi liên hệ, tin nhắn và viết phản hồi.</a:t>
            </a:r>
          </a:p>
          <a:p>
            <a:pPr marL="496569" lvl="1" indent="-248284" algn="just">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Đơn hàng bao gồm nhiều chi tiết đơn hàng; mỗi chi tiết liên kết với một sản phẩm.</a:t>
            </a:r>
          </a:p>
          <a:p>
            <a:pPr marL="496569" lvl="1" indent="-248284" algn="just">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Sản phẩm thuộc danh mục, có thể được đánh giá bởi người dùng.</a:t>
            </a:r>
          </a:p>
          <a:p>
            <a:pPr marL="496569" lvl="1" indent="-248284" algn="just">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Hóa đơn và thanh toán hỗ trợ quản lý thông tin và hình thức thanh toán đơn hàng.</a:t>
            </a:r>
          </a:p>
          <a:p>
            <a:pPr marL="0" lvl="0" indent="0" algn="just"/>
            <a:endParaRPr lang="en-US" sz="32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6" name="TextBox 6"/>
          <p:cNvSpPr txBox="1"/>
          <p:nvPr/>
        </p:nvSpPr>
        <p:spPr>
          <a:xfrm>
            <a:off x="745787" y="447651"/>
            <a:ext cx="8324850" cy="1154162"/>
          </a:xfrm>
          <a:prstGeom prst="rect">
            <a:avLst/>
          </a:prstGeom>
        </p:spPr>
        <p:txBody>
          <a:bodyPr lIns="0" tIns="0" rIns="0" bIns="0" rtlCol="0" anchor="t">
            <a:spAutoFit/>
          </a:bodyPr>
          <a:lstStyle/>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MÔ HÌNH UML</a:t>
            </a:r>
          </a:p>
        </p:txBody>
      </p:sp>
      <p:sp>
        <p:nvSpPr>
          <p:cNvPr id="7" name="TextBox 7"/>
          <p:cNvSpPr txBox="1"/>
          <p:nvPr/>
        </p:nvSpPr>
        <p:spPr>
          <a:xfrm>
            <a:off x="304800" y="9563100"/>
            <a:ext cx="1305726"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14/20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7858125" y="0"/>
            <a:ext cx="10429875" cy="10287000"/>
            <a:chOff x="0" y="0"/>
            <a:chExt cx="2746963" cy="2709333"/>
          </a:xfrm>
        </p:grpSpPr>
        <p:sp>
          <p:nvSpPr>
            <p:cNvPr id="3" name="Freeform 3"/>
            <p:cNvSpPr/>
            <p:nvPr/>
          </p:nvSpPr>
          <p:spPr>
            <a:xfrm>
              <a:off x="0" y="0"/>
              <a:ext cx="2746963" cy="2709333"/>
            </a:xfrm>
            <a:custGeom>
              <a:avLst/>
              <a:gdLst/>
              <a:ahLst/>
              <a:cxnLst/>
              <a:rect l="l" t="t" r="r" b="b"/>
              <a:pathLst>
                <a:path w="2746963" h="2709333">
                  <a:moveTo>
                    <a:pt x="0" y="0"/>
                  </a:moveTo>
                  <a:lnTo>
                    <a:pt x="2746963" y="0"/>
                  </a:lnTo>
                  <a:lnTo>
                    <a:pt x="2746963" y="2709333"/>
                  </a:lnTo>
                  <a:lnTo>
                    <a:pt x="0" y="2709333"/>
                  </a:lnTo>
                  <a:close/>
                </a:path>
              </a:pathLst>
            </a:custGeom>
            <a:solidFill>
              <a:srgbClr val="ECF0F1"/>
            </a:solidFill>
          </p:spPr>
          <p:txBody>
            <a:bodyPr/>
            <a:lstStyle/>
            <a:p>
              <a:endParaRPr lang="en-US"/>
            </a:p>
          </p:txBody>
        </p:sp>
        <p:sp>
          <p:nvSpPr>
            <p:cNvPr id="4" name="TextBox 4"/>
            <p:cNvSpPr txBox="1"/>
            <p:nvPr/>
          </p:nvSpPr>
          <p:spPr>
            <a:xfrm>
              <a:off x="0" y="-57150"/>
              <a:ext cx="2746963" cy="2766483"/>
            </a:xfrm>
            <a:prstGeom prst="rect">
              <a:avLst/>
            </a:prstGeom>
          </p:spPr>
          <p:txBody>
            <a:bodyPr lIns="50800" tIns="50800" rIns="50800" bIns="50800" rtlCol="0" anchor="ctr"/>
            <a:lstStyle/>
            <a:p>
              <a:pPr algn="ctr">
                <a:lnSpc>
                  <a:spcPts val="3640"/>
                </a:lnSpc>
              </a:pPr>
              <a:endParaRPr/>
            </a:p>
          </p:txBody>
        </p:sp>
      </p:grpSp>
      <p:sp>
        <p:nvSpPr>
          <p:cNvPr id="5" name="Freeform 5"/>
          <p:cNvSpPr/>
          <p:nvPr/>
        </p:nvSpPr>
        <p:spPr>
          <a:xfrm>
            <a:off x="8470327" y="1218886"/>
            <a:ext cx="9007747" cy="8039414"/>
          </a:xfrm>
          <a:custGeom>
            <a:avLst/>
            <a:gdLst/>
            <a:ahLst/>
            <a:cxnLst/>
            <a:rect l="l" t="t" r="r" b="b"/>
            <a:pathLst>
              <a:path w="9007747" h="8039414">
                <a:moveTo>
                  <a:pt x="0" y="0"/>
                </a:moveTo>
                <a:lnTo>
                  <a:pt x="9007747" y="0"/>
                </a:lnTo>
                <a:lnTo>
                  <a:pt x="9007747" y="8039414"/>
                </a:lnTo>
                <a:lnTo>
                  <a:pt x="0" y="8039414"/>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508001" y="198540"/>
            <a:ext cx="6886575" cy="1436291"/>
          </a:xfrm>
          <a:prstGeom prst="rect">
            <a:avLst/>
          </a:prstGeom>
        </p:spPr>
        <p:txBody>
          <a:bodyPr lIns="0" tIns="0" rIns="0" bIns="0" rtlCol="0" anchor="t">
            <a:spAutoFit/>
          </a:bodyPr>
          <a:lstStyle/>
          <a:p>
            <a:pPr marL="0" lvl="0" indent="0" algn="ctr">
              <a:lnSpc>
                <a:spcPts val="5600"/>
              </a:lnSpc>
            </a:pPr>
            <a:r>
              <a:rPr lang="en-US" sz="5400" b="1">
                <a:solidFill>
                  <a:srgbClr val="ECF0F1"/>
                </a:solidFill>
                <a:latin typeface="Times New Roman" panose="02020603050405020304" pitchFamily="18" charset="0"/>
                <a:ea typeface="Lovelace Text"/>
                <a:cs typeface="Times New Roman" panose="02020603050405020304" pitchFamily="18" charset="0"/>
                <a:sym typeface="Lovelace Text"/>
              </a:rPr>
              <a:t>THIẾT KẾ GIAO DIỆN NGƯỜI DÙNG</a:t>
            </a:r>
          </a:p>
        </p:txBody>
      </p:sp>
      <p:grpSp>
        <p:nvGrpSpPr>
          <p:cNvPr id="7" name="Group 7"/>
          <p:cNvGrpSpPr/>
          <p:nvPr/>
        </p:nvGrpSpPr>
        <p:grpSpPr>
          <a:xfrm>
            <a:off x="696356" y="1634831"/>
            <a:ext cx="6847444" cy="8863965"/>
            <a:chOff x="0" y="-318950"/>
            <a:chExt cx="7264400" cy="11818622"/>
          </a:xfrm>
        </p:grpSpPr>
        <p:sp>
          <p:nvSpPr>
            <p:cNvPr id="8" name="TextBox 8"/>
            <p:cNvSpPr txBox="1"/>
            <p:nvPr/>
          </p:nvSpPr>
          <p:spPr>
            <a:xfrm>
              <a:off x="94137" y="-318950"/>
              <a:ext cx="7076125" cy="11818622"/>
            </a:xfrm>
            <a:prstGeom prst="rect">
              <a:avLst/>
            </a:prstGeom>
          </p:spPr>
          <p:txBody>
            <a:bodyPr wrap="square" lIns="0" tIns="0" rIns="0" bIns="0" rtlCol="0" anchor="t">
              <a:spAutoFit/>
            </a:bodyPr>
            <a:lstStyle/>
            <a:p>
              <a:pPr marL="0" lvl="0" indent="0" algn="l">
                <a:lnSpc>
                  <a:spcPct val="150000"/>
                </a:lnSpc>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Các thành phần giao diện chính gồm:</a:t>
              </a:r>
            </a:p>
            <a:p>
              <a:pPr marL="474979" lvl="1" indent="-237490"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Trang chủ hiển thị danh mục và sản phẩm nổi bật</a:t>
              </a:r>
            </a:p>
            <a:p>
              <a:pPr marL="474979" lvl="1" indent="-237490"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Trang danh sách sản phẩm theo danh mục</a:t>
              </a:r>
            </a:p>
            <a:p>
              <a:pPr marL="474979" lvl="1" indent="-237490"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Trang chi tiết sản phẩm với hình ảnh, mô tả và giá bán</a:t>
              </a:r>
            </a:p>
            <a:p>
              <a:pPr marL="474979" lvl="1" indent="-237490"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Trang giỏ hàng cho phép xem và cập nhật sản phẩm đã chọn</a:t>
              </a:r>
            </a:p>
            <a:p>
              <a:pPr marL="474979" lvl="1" indent="-237490"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Trang đặt hàng và xác nhận thông tin khách hàng</a:t>
              </a:r>
            </a:p>
            <a:p>
              <a:pPr marL="0" lvl="0" indent="0" algn="l">
                <a:lnSpc>
                  <a:spcPct val="150000"/>
                </a:lnSpc>
              </a:pPr>
              <a:endParaRPr lang="en-US" sz="32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9" name="TextBox 9"/>
            <p:cNvSpPr txBox="1"/>
            <p:nvPr/>
          </p:nvSpPr>
          <p:spPr>
            <a:xfrm>
              <a:off x="0" y="-9525"/>
              <a:ext cx="7264400" cy="619125"/>
            </a:xfrm>
            <a:prstGeom prst="rect">
              <a:avLst/>
            </a:prstGeom>
          </p:spPr>
          <p:txBody>
            <a:bodyPr lIns="0" tIns="0" rIns="0" bIns="0" rtlCol="0" anchor="t">
              <a:spAutoFit/>
            </a:bodyPr>
            <a:lstStyle/>
            <a:p>
              <a:pPr marL="0" lvl="0" indent="0" algn="l">
                <a:lnSpc>
                  <a:spcPts val="3600"/>
                </a:lnSpc>
              </a:pPr>
              <a:endParaRPr/>
            </a:p>
          </p:txBody>
        </p:sp>
      </p:grpSp>
      <p:sp>
        <p:nvSpPr>
          <p:cNvPr id="10" name="Freeform 10"/>
          <p:cNvSpPr/>
          <p:nvPr/>
        </p:nvSpPr>
        <p:spPr>
          <a:xfrm>
            <a:off x="0" y="9619499"/>
            <a:ext cx="18288000" cy="667501"/>
          </a:xfrm>
          <a:custGeom>
            <a:avLst/>
            <a:gdLst/>
            <a:ahLst/>
            <a:cxnLst/>
            <a:rect l="l" t="t" r="r" b="b"/>
            <a:pathLst>
              <a:path w="10199615" h="667501">
                <a:moveTo>
                  <a:pt x="0" y="0"/>
                </a:moveTo>
                <a:lnTo>
                  <a:pt x="10199615" y="0"/>
                </a:lnTo>
                <a:lnTo>
                  <a:pt x="10199615" y="667501"/>
                </a:lnTo>
                <a:lnTo>
                  <a:pt x="0" y="667501"/>
                </a:lnTo>
                <a:lnTo>
                  <a:pt x="0" y="0"/>
                </a:lnTo>
                <a:close/>
              </a:path>
            </a:pathLst>
          </a:custGeom>
          <a:blipFill>
            <a:blip r:embed="rId3"/>
            <a:stretch>
              <a:fillRect t="-25215" r="-1684" b="-30160"/>
            </a:stretch>
          </a:blipFill>
        </p:spPr>
        <p:txBody>
          <a:bodyPr/>
          <a:lstStyle/>
          <a:p>
            <a:endParaRPr lang="en-US"/>
          </a:p>
        </p:txBody>
      </p:sp>
      <p:sp>
        <p:nvSpPr>
          <p:cNvPr id="11" name="TextBox 11"/>
          <p:cNvSpPr txBox="1"/>
          <p:nvPr/>
        </p:nvSpPr>
        <p:spPr>
          <a:xfrm>
            <a:off x="245042" y="9619499"/>
            <a:ext cx="1507557"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15/20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7858125" y="0"/>
            <a:ext cx="10429875" cy="10287000"/>
            <a:chOff x="0" y="0"/>
            <a:chExt cx="2746963" cy="2709333"/>
          </a:xfrm>
        </p:grpSpPr>
        <p:sp>
          <p:nvSpPr>
            <p:cNvPr id="3" name="Freeform 3"/>
            <p:cNvSpPr/>
            <p:nvPr/>
          </p:nvSpPr>
          <p:spPr>
            <a:xfrm>
              <a:off x="0" y="0"/>
              <a:ext cx="2746963" cy="2709333"/>
            </a:xfrm>
            <a:custGeom>
              <a:avLst/>
              <a:gdLst/>
              <a:ahLst/>
              <a:cxnLst/>
              <a:rect l="l" t="t" r="r" b="b"/>
              <a:pathLst>
                <a:path w="2746963" h="2709333">
                  <a:moveTo>
                    <a:pt x="0" y="0"/>
                  </a:moveTo>
                  <a:lnTo>
                    <a:pt x="2746963" y="0"/>
                  </a:lnTo>
                  <a:lnTo>
                    <a:pt x="2746963" y="2709333"/>
                  </a:lnTo>
                  <a:lnTo>
                    <a:pt x="0" y="2709333"/>
                  </a:lnTo>
                  <a:close/>
                </a:path>
              </a:pathLst>
            </a:custGeom>
            <a:solidFill>
              <a:srgbClr val="ECF0F1"/>
            </a:solidFill>
          </p:spPr>
          <p:txBody>
            <a:bodyPr/>
            <a:lstStyle/>
            <a:p>
              <a:endParaRPr lang="en-US"/>
            </a:p>
          </p:txBody>
        </p:sp>
        <p:sp>
          <p:nvSpPr>
            <p:cNvPr id="4" name="TextBox 4"/>
            <p:cNvSpPr txBox="1"/>
            <p:nvPr/>
          </p:nvSpPr>
          <p:spPr>
            <a:xfrm>
              <a:off x="0" y="-57150"/>
              <a:ext cx="2746963" cy="2766483"/>
            </a:xfrm>
            <a:prstGeom prst="rect">
              <a:avLst/>
            </a:prstGeom>
          </p:spPr>
          <p:txBody>
            <a:bodyPr lIns="50800" tIns="50800" rIns="50800" bIns="50800" rtlCol="0" anchor="ctr"/>
            <a:lstStyle/>
            <a:p>
              <a:pPr algn="ctr">
                <a:lnSpc>
                  <a:spcPts val="3640"/>
                </a:lnSpc>
              </a:pPr>
              <a:endParaRPr/>
            </a:p>
          </p:txBody>
        </p:sp>
      </p:grpSp>
      <p:sp>
        <p:nvSpPr>
          <p:cNvPr id="5" name="Freeform 5"/>
          <p:cNvSpPr/>
          <p:nvPr/>
        </p:nvSpPr>
        <p:spPr>
          <a:xfrm>
            <a:off x="8019259" y="2396057"/>
            <a:ext cx="9896059" cy="4966312"/>
          </a:xfrm>
          <a:custGeom>
            <a:avLst/>
            <a:gdLst/>
            <a:ahLst/>
            <a:cxnLst/>
            <a:rect l="l" t="t" r="r" b="b"/>
            <a:pathLst>
              <a:path w="9896059" h="4966312">
                <a:moveTo>
                  <a:pt x="0" y="0"/>
                </a:moveTo>
                <a:lnTo>
                  <a:pt x="9896060" y="0"/>
                </a:lnTo>
                <a:lnTo>
                  <a:pt x="9896060" y="4966312"/>
                </a:lnTo>
                <a:lnTo>
                  <a:pt x="0" y="4966312"/>
                </a:lnTo>
                <a:lnTo>
                  <a:pt x="0" y="0"/>
                </a:lnTo>
                <a:close/>
              </a:path>
            </a:pathLst>
          </a:custGeom>
          <a:blipFill>
            <a:blip r:embed="rId2"/>
            <a:stretch>
              <a:fillRect r="-4009"/>
            </a:stretch>
          </a:blipFill>
        </p:spPr>
        <p:txBody>
          <a:bodyPr/>
          <a:lstStyle/>
          <a:p>
            <a:endParaRPr lang="en-US"/>
          </a:p>
        </p:txBody>
      </p:sp>
      <p:sp>
        <p:nvSpPr>
          <p:cNvPr id="6" name="TextBox 6"/>
          <p:cNvSpPr txBox="1"/>
          <p:nvPr/>
        </p:nvSpPr>
        <p:spPr>
          <a:xfrm>
            <a:off x="150578" y="476169"/>
            <a:ext cx="7707547" cy="1472198"/>
          </a:xfrm>
          <a:prstGeom prst="rect">
            <a:avLst/>
          </a:prstGeom>
        </p:spPr>
        <p:txBody>
          <a:bodyPr wrap="square" lIns="0" tIns="0" rIns="0" bIns="0" rtlCol="0" anchor="t">
            <a:spAutoFit/>
          </a:bodyPr>
          <a:lstStyle/>
          <a:p>
            <a:pPr marL="0" lvl="0" indent="0" algn="ctr">
              <a:lnSpc>
                <a:spcPts val="5600"/>
              </a:lnSpc>
            </a:pPr>
            <a:r>
              <a:rPr lang="en-US" sz="5400" b="1">
                <a:solidFill>
                  <a:srgbClr val="ECF0F1"/>
                </a:solidFill>
                <a:latin typeface="Times New Roman" panose="02020603050405020304" pitchFamily="18" charset="0"/>
                <a:ea typeface="Lovelace Text"/>
                <a:cs typeface="Times New Roman" panose="02020603050405020304" pitchFamily="18" charset="0"/>
                <a:sym typeface="Lovelace Text"/>
              </a:rPr>
              <a:t>THIẾT KẾ GIAO DIỆN QUẢN TRỊ</a:t>
            </a:r>
          </a:p>
        </p:txBody>
      </p:sp>
      <p:grpSp>
        <p:nvGrpSpPr>
          <p:cNvPr id="7" name="Group 7"/>
          <p:cNvGrpSpPr/>
          <p:nvPr/>
        </p:nvGrpSpPr>
        <p:grpSpPr>
          <a:xfrm>
            <a:off x="139692" y="1485900"/>
            <a:ext cx="7506885" cy="7836404"/>
            <a:chOff x="-677749" y="-9525"/>
            <a:chExt cx="8059716" cy="10448540"/>
          </a:xfrm>
        </p:grpSpPr>
        <p:sp>
          <p:nvSpPr>
            <p:cNvPr id="8" name="TextBox 8"/>
            <p:cNvSpPr txBox="1"/>
            <p:nvPr/>
          </p:nvSpPr>
          <p:spPr>
            <a:xfrm>
              <a:off x="-677749" y="590164"/>
              <a:ext cx="7982568" cy="9848851"/>
            </a:xfrm>
            <a:prstGeom prst="rect">
              <a:avLst/>
            </a:prstGeom>
          </p:spPr>
          <p:txBody>
            <a:bodyPr wrap="square" lIns="0" tIns="0" rIns="0" bIns="0" rtlCol="0" anchor="t">
              <a:spAutoFit/>
            </a:bodyPr>
            <a:lstStyle/>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Bố cục giao diện được chia thành các khu vực chức năng rõ ràng như:</a:t>
              </a:r>
            </a:p>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Thanh menu quản lý</a:t>
              </a:r>
            </a:p>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Khu vực hiển thị nội dung chính</a:t>
              </a:r>
            </a:p>
            <a:p>
              <a:pPr algn="l"/>
              <a:r>
                <a:rPr lang="en-US" sz="3200" b="1">
                  <a:solidFill>
                    <a:srgbClr val="ECF0F1"/>
                  </a:solidFill>
                  <a:latin typeface="Times New Roman" panose="02020603050405020304" pitchFamily="18" charset="0"/>
                  <a:ea typeface="Inclusive Sans Bold"/>
                  <a:cs typeface="Times New Roman" panose="02020603050405020304" pitchFamily="18" charset="0"/>
                  <a:sym typeface="Inclusive Sans Bold"/>
                </a:rPr>
                <a:t>Các chức năng chính trên giao diện quản trị gồm:</a:t>
              </a:r>
            </a:p>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Hồ sơ</a:t>
              </a:r>
            </a:p>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Tổng quan</a:t>
              </a:r>
            </a:p>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danh mục sản phẩm</a:t>
              </a:r>
            </a:p>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sản phẩm (thêm, sửa, xóa)</a:t>
              </a:r>
            </a:p>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đơn hàng và trạng thái đơn hàng</a:t>
              </a:r>
            </a:p>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người dùng</a:t>
              </a:r>
            </a:p>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đặt hàng</a:t>
              </a:r>
            </a:p>
            <a:p>
              <a:pPr marL="474979" lvl="1" indent="-237490" algn="l">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liên hệ và phản hồi từ khách hàng</a:t>
              </a:r>
            </a:p>
            <a:p>
              <a:pPr marL="0" lvl="0" indent="0" algn="l"/>
              <a:endParaRPr lang="en-US" sz="32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9" name="TextBox 9"/>
            <p:cNvSpPr txBox="1"/>
            <p:nvPr/>
          </p:nvSpPr>
          <p:spPr>
            <a:xfrm>
              <a:off x="0" y="-9525"/>
              <a:ext cx="7381967" cy="619125"/>
            </a:xfrm>
            <a:prstGeom prst="rect">
              <a:avLst/>
            </a:prstGeom>
          </p:spPr>
          <p:txBody>
            <a:bodyPr lIns="0" tIns="0" rIns="0" bIns="0" rtlCol="0" anchor="t">
              <a:spAutoFit/>
            </a:bodyPr>
            <a:lstStyle/>
            <a:p>
              <a:pPr marL="0" lvl="0" indent="0" algn="l">
                <a:lnSpc>
                  <a:spcPts val="3600"/>
                </a:lnSpc>
              </a:pPr>
              <a:endParaRPr/>
            </a:p>
          </p:txBody>
        </p:sp>
      </p:grpSp>
      <p:sp>
        <p:nvSpPr>
          <p:cNvPr id="10" name="Freeform 10"/>
          <p:cNvSpPr/>
          <p:nvPr/>
        </p:nvSpPr>
        <p:spPr>
          <a:xfrm>
            <a:off x="0" y="9619499"/>
            <a:ext cx="18288000" cy="667501"/>
          </a:xfrm>
          <a:custGeom>
            <a:avLst/>
            <a:gdLst/>
            <a:ahLst/>
            <a:cxnLst/>
            <a:rect l="l" t="t" r="r" b="b"/>
            <a:pathLst>
              <a:path w="10199615" h="667501">
                <a:moveTo>
                  <a:pt x="0" y="0"/>
                </a:moveTo>
                <a:lnTo>
                  <a:pt x="10199615" y="0"/>
                </a:lnTo>
                <a:lnTo>
                  <a:pt x="10199615" y="667501"/>
                </a:lnTo>
                <a:lnTo>
                  <a:pt x="0" y="667501"/>
                </a:lnTo>
                <a:lnTo>
                  <a:pt x="0" y="0"/>
                </a:lnTo>
                <a:close/>
              </a:path>
            </a:pathLst>
          </a:custGeom>
          <a:blipFill>
            <a:blip r:embed="rId3"/>
            <a:stretch>
              <a:fillRect t="-25215" r="-1684" b="-30160"/>
            </a:stretch>
          </a:blipFill>
        </p:spPr>
        <p:txBody>
          <a:bodyPr/>
          <a:lstStyle/>
          <a:p>
            <a:endParaRPr lang="en-US"/>
          </a:p>
        </p:txBody>
      </p:sp>
      <p:sp>
        <p:nvSpPr>
          <p:cNvPr id="11" name="TextBox 11"/>
          <p:cNvSpPr txBox="1"/>
          <p:nvPr/>
        </p:nvSpPr>
        <p:spPr>
          <a:xfrm>
            <a:off x="179323" y="9737693"/>
            <a:ext cx="1183259"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16/20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extBox 2"/>
          <p:cNvSpPr txBox="1"/>
          <p:nvPr/>
        </p:nvSpPr>
        <p:spPr>
          <a:xfrm>
            <a:off x="1124811" y="674891"/>
            <a:ext cx="15799558" cy="1154162"/>
          </a:xfrm>
          <a:prstGeom prst="rect">
            <a:avLst/>
          </a:prstGeom>
        </p:spPr>
        <p:txBody>
          <a:bodyPr lIns="0" tIns="0" rIns="0" bIns="0" rtlCol="0" anchor="t">
            <a:spAutoFit/>
          </a:bodyPr>
          <a:lstStyle/>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KẾT QUẢ ĐẠT ĐƯỢC</a:t>
            </a:r>
          </a:p>
        </p:txBody>
      </p:sp>
      <p:grpSp>
        <p:nvGrpSpPr>
          <p:cNvPr id="3" name="Group 3"/>
          <p:cNvGrpSpPr/>
          <p:nvPr/>
        </p:nvGrpSpPr>
        <p:grpSpPr>
          <a:xfrm>
            <a:off x="1106668" y="1773376"/>
            <a:ext cx="16597336" cy="7461463"/>
            <a:chOff x="0" y="-9525"/>
            <a:chExt cx="20369936" cy="9948619"/>
          </a:xfrm>
        </p:grpSpPr>
        <p:sp>
          <p:nvSpPr>
            <p:cNvPr id="4" name="TextBox 4"/>
            <p:cNvSpPr txBox="1"/>
            <p:nvPr/>
          </p:nvSpPr>
          <p:spPr>
            <a:xfrm>
              <a:off x="0" y="1075128"/>
              <a:ext cx="20369936" cy="8863966"/>
            </a:xfrm>
            <a:prstGeom prst="rect">
              <a:avLst/>
            </a:prstGeom>
          </p:spPr>
          <p:txBody>
            <a:bodyPr lIns="0" tIns="0" rIns="0" bIns="0" rtlCol="0" anchor="t">
              <a:spAutoFit/>
            </a:bodyPr>
            <a:lstStyle/>
            <a:p>
              <a:pPr algn="l">
                <a:lnSpc>
                  <a:spcPct val="150000"/>
                </a:lnSpc>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Website bán trang sức đã được xây dựng hoàn chỉnh các chức năng cơ bản theo yêu cầu ban đầuHệ thống đáp ứng đầy đủ các nghiệp vụ chính như:</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sản phẩm và danh mục</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đơn hàng</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Quản lý người dùng</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Hỗ trợ khách hàng đặt hàng trực tuyến</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Cơ sở dữ liệu được thiết kế hợp lý, đảm bảo tính toàn vẹn và nhất quán dữ liệu.</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Hệ thống hoạt động ổn định trong môi trường XAMPP.</a:t>
              </a:r>
            </a:p>
            <a:p>
              <a:pPr marL="0" lvl="0" indent="0" algn="l">
                <a:lnSpc>
                  <a:spcPct val="150000"/>
                </a:lnSpc>
              </a:pPr>
              <a:endParaRPr lang="en-US" sz="32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5" name="TextBox 5"/>
            <p:cNvSpPr txBox="1"/>
            <p:nvPr/>
          </p:nvSpPr>
          <p:spPr>
            <a:xfrm>
              <a:off x="0" y="-9525"/>
              <a:ext cx="20369936" cy="733425"/>
            </a:xfrm>
            <a:prstGeom prst="rect">
              <a:avLst/>
            </a:prstGeom>
          </p:spPr>
          <p:txBody>
            <a:bodyPr lIns="0" tIns="0" rIns="0" bIns="0" rtlCol="0" anchor="t">
              <a:spAutoFit/>
            </a:bodyPr>
            <a:lstStyle/>
            <a:p>
              <a:pPr marL="0" lvl="0" indent="0" algn="l">
                <a:lnSpc>
                  <a:spcPts val="4319"/>
                </a:lnSpc>
              </a:pPr>
              <a:endParaRPr/>
            </a:p>
          </p:txBody>
        </p:sp>
      </p:grpSp>
      <p:sp>
        <p:nvSpPr>
          <p:cNvPr id="6" name="TextBox 6"/>
          <p:cNvSpPr txBox="1"/>
          <p:nvPr/>
        </p:nvSpPr>
        <p:spPr>
          <a:xfrm>
            <a:off x="14930" y="9639300"/>
            <a:ext cx="1450512"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17/20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extBox 2"/>
          <p:cNvSpPr txBox="1"/>
          <p:nvPr/>
        </p:nvSpPr>
        <p:spPr>
          <a:xfrm>
            <a:off x="652396" y="723900"/>
            <a:ext cx="17545050" cy="1154162"/>
          </a:xfrm>
          <a:prstGeom prst="rect">
            <a:avLst/>
          </a:prstGeom>
        </p:spPr>
        <p:txBody>
          <a:bodyPr wrap="square" lIns="0" tIns="0" rIns="0" bIns="0" rtlCol="0" anchor="t">
            <a:spAutoFit/>
          </a:bodyPr>
          <a:lstStyle/>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HẠN CHẾ VÀ HƯỚNG PHÁT TRIỂN</a:t>
            </a:r>
          </a:p>
        </p:txBody>
      </p:sp>
      <p:grpSp>
        <p:nvGrpSpPr>
          <p:cNvPr id="3" name="Group 3"/>
          <p:cNvGrpSpPr/>
          <p:nvPr/>
        </p:nvGrpSpPr>
        <p:grpSpPr>
          <a:xfrm>
            <a:off x="1188856" y="1954394"/>
            <a:ext cx="16413344" cy="7386638"/>
            <a:chOff x="0" y="-1002145"/>
            <a:chExt cx="21884459" cy="9848851"/>
          </a:xfrm>
        </p:grpSpPr>
        <p:sp>
          <p:nvSpPr>
            <p:cNvPr id="4" name="TextBox 4"/>
            <p:cNvSpPr txBox="1"/>
            <p:nvPr/>
          </p:nvSpPr>
          <p:spPr>
            <a:xfrm>
              <a:off x="446859" y="-1002145"/>
              <a:ext cx="21437600" cy="9848851"/>
            </a:xfrm>
            <a:prstGeom prst="rect">
              <a:avLst/>
            </a:prstGeom>
          </p:spPr>
          <p:txBody>
            <a:bodyPr wrap="square" lIns="0" tIns="0" rIns="0" bIns="0" rtlCol="0" anchor="t">
              <a:spAutoFit/>
            </a:bodyPr>
            <a:lstStyle/>
            <a:p>
              <a:pPr marL="0" lvl="0" indent="0" algn="l">
                <a:lnSpc>
                  <a:spcPct val="150000"/>
                </a:lnSpc>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Hạn chế:</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Hệ thống chưa tích hợp các cơ chế bảo mật nâng cao như mã hóa dữ liệu, phân quyền chi tiết.</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Chưa hỗ trợ thanh toán trực tuyến qua các cổng thanh toán phổ biến.</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Chưa tối ưu hiệu suất khi lượng người dùng truy cập lớn.</a:t>
              </a:r>
            </a:p>
            <a:p>
              <a:pPr marL="0" lvl="0" indent="0" algn="l">
                <a:lnSpc>
                  <a:spcPct val="150000"/>
                </a:lnSpc>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Hướng phát triển:</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Tích hợp các cổng thanh toán trực tuyến như ví điện tử hoặc ngân hàng.</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Nâng cao bảo mật hệ thống và phân quyền người dùng chi tiết hơn.</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Tối ưu hiệu suất và cải thiện trải nghiệm người dùng.</a:t>
              </a:r>
            </a:p>
            <a:p>
              <a:pPr marL="604516" lvl="1" indent="-302258" algn="l">
                <a:lnSpc>
                  <a:spcPct val="150000"/>
                </a:lnSpc>
                <a:buFont typeface="Arial"/>
                <a:buChar char="•"/>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Mở rộng thêm các chức năng nâng cao theo nhu cầu thực tế.</a:t>
              </a:r>
            </a:p>
            <a:p>
              <a:pPr marL="0" lvl="0" indent="0" algn="l">
                <a:lnSpc>
                  <a:spcPct val="150000"/>
                </a:lnSpc>
              </a:pPr>
              <a:endParaRPr lang="en-US" sz="3200">
                <a:solidFill>
                  <a:srgbClr val="ECF0F1"/>
                </a:solidFill>
                <a:latin typeface="Times New Roman" panose="02020603050405020304" pitchFamily="18" charset="0"/>
                <a:ea typeface="Inclusive Sans"/>
                <a:cs typeface="Times New Roman" panose="02020603050405020304" pitchFamily="18" charset="0"/>
                <a:sym typeface="Inclusive Sans"/>
              </a:endParaRPr>
            </a:p>
          </p:txBody>
        </p:sp>
        <p:sp>
          <p:nvSpPr>
            <p:cNvPr id="5" name="TextBox 5"/>
            <p:cNvSpPr txBox="1"/>
            <p:nvPr/>
          </p:nvSpPr>
          <p:spPr>
            <a:xfrm>
              <a:off x="0" y="-9525"/>
              <a:ext cx="20369936" cy="733425"/>
            </a:xfrm>
            <a:prstGeom prst="rect">
              <a:avLst/>
            </a:prstGeom>
          </p:spPr>
          <p:txBody>
            <a:bodyPr lIns="0" tIns="0" rIns="0" bIns="0" rtlCol="0" anchor="t">
              <a:spAutoFit/>
            </a:bodyPr>
            <a:lstStyle/>
            <a:p>
              <a:pPr marL="0" lvl="0" indent="0" algn="l">
                <a:lnSpc>
                  <a:spcPts val="4319"/>
                </a:lnSpc>
              </a:pPr>
              <a:endParaRPr/>
            </a:p>
          </p:txBody>
        </p:sp>
      </p:grpSp>
      <p:sp>
        <p:nvSpPr>
          <p:cNvPr id="6" name="TextBox 6"/>
          <p:cNvSpPr txBox="1"/>
          <p:nvPr/>
        </p:nvSpPr>
        <p:spPr>
          <a:xfrm>
            <a:off x="228600" y="9563100"/>
            <a:ext cx="1138304"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18/20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7858125" y="0"/>
            <a:ext cx="10429875" cy="10287000"/>
            <a:chOff x="0" y="0"/>
            <a:chExt cx="2746963" cy="2709333"/>
          </a:xfrm>
        </p:grpSpPr>
        <p:sp>
          <p:nvSpPr>
            <p:cNvPr id="3" name="Freeform 3"/>
            <p:cNvSpPr/>
            <p:nvPr/>
          </p:nvSpPr>
          <p:spPr>
            <a:xfrm>
              <a:off x="0" y="0"/>
              <a:ext cx="2746963" cy="2709333"/>
            </a:xfrm>
            <a:custGeom>
              <a:avLst/>
              <a:gdLst/>
              <a:ahLst/>
              <a:cxnLst/>
              <a:rect l="l" t="t" r="r" b="b"/>
              <a:pathLst>
                <a:path w="2746963" h="2709333">
                  <a:moveTo>
                    <a:pt x="0" y="0"/>
                  </a:moveTo>
                  <a:lnTo>
                    <a:pt x="2746963" y="0"/>
                  </a:lnTo>
                  <a:lnTo>
                    <a:pt x="2746963" y="2709333"/>
                  </a:lnTo>
                  <a:lnTo>
                    <a:pt x="0" y="2709333"/>
                  </a:lnTo>
                  <a:close/>
                </a:path>
              </a:pathLst>
            </a:custGeom>
            <a:solidFill>
              <a:srgbClr val="2980B9"/>
            </a:solidFill>
          </p:spPr>
          <p:txBody>
            <a:bodyPr/>
            <a:lstStyle/>
            <a:p>
              <a:endParaRPr lang="en-US"/>
            </a:p>
          </p:txBody>
        </p:sp>
        <p:sp>
          <p:nvSpPr>
            <p:cNvPr id="4" name="TextBox 4"/>
            <p:cNvSpPr txBox="1"/>
            <p:nvPr/>
          </p:nvSpPr>
          <p:spPr>
            <a:xfrm>
              <a:off x="0" y="-57150"/>
              <a:ext cx="2746963" cy="2766483"/>
            </a:xfrm>
            <a:prstGeom prst="rect">
              <a:avLst/>
            </a:prstGeom>
          </p:spPr>
          <p:txBody>
            <a:bodyPr lIns="50800" tIns="50800" rIns="50800" bIns="50800" rtlCol="0" anchor="ctr"/>
            <a:lstStyle/>
            <a:p>
              <a:pPr algn="ctr">
                <a:lnSpc>
                  <a:spcPts val="3640"/>
                </a:lnSpc>
              </a:pPr>
              <a:endParaRPr/>
            </a:p>
          </p:txBody>
        </p:sp>
      </p:grpSp>
      <p:sp>
        <p:nvSpPr>
          <p:cNvPr id="5" name="TextBox 5"/>
          <p:cNvSpPr txBox="1"/>
          <p:nvPr/>
        </p:nvSpPr>
        <p:spPr>
          <a:xfrm>
            <a:off x="838200" y="662644"/>
            <a:ext cx="6886575" cy="1154162"/>
          </a:xfrm>
          <a:prstGeom prst="rect">
            <a:avLst/>
          </a:prstGeom>
        </p:spPr>
        <p:txBody>
          <a:bodyPr lIns="0" tIns="0" rIns="0" bIns="0" rtlCol="0" anchor="t">
            <a:spAutoFit/>
          </a:bodyPr>
          <a:lstStyle/>
          <a:p>
            <a:pPr marL="0" lvl="0" indent="0" algn="l">
              <a:lnSpc>
                <a:spcPts val="9000"/>
              </a:lnSpc>
            </a:pPr>
            <a:r>
              <a:rPr lang="en-US" sz="8000" b="1">
                <a:solidFill>
                  <a:srgbClr val="ECF0F1"/>
                </a:solidFill>
                <a:latin typeface="Times New Roman" panose="02020603050405020304" pitchFamily="18" charset="0"/>
                <a:ea typeface="Lovelace Text"/>
                <a:cs typeface="Times New Roman" panose="02020603050405020304" pitchFamily="18" charset="0"/>
                <a:sym typeface="Lovelace Text"/>
              </a:rPr>
              <a:t>KẾT LUẬN</a:t>
            </a:r>
          </a:p>
        </p:txBody>
      </p:sp>
      <p:sp>
        <p:nvSpPr>
          <p:cNvPr id="6" name="TextBox 6"/>
          <p:cNvSpPr txBox="1"/>
          <p:nvPr/>
        </p:nvSpPr>
        <p:spPr>
          <a:xfrm>
            <a:off x="457200" y="2449681"/>
            <a:ext cx="7062544" cy="5170646"/>
          </a:xfrm>
          <a:prstGeom prst="rect">
            <a:avLst/>
          </a:prstGeom>
        </p:spPr>
        <p:txBody>
          <a:bodyPr wrap="square" lIns="0" tIns="0" rIns="0" bIns="0" rtlCol="0" anchor="t">
            <a:spAutoFit/>
          </a:bodyPr>
          <a:lstStyle/>
          <a:p>
            <a:pPr marL="0" lvl="0" indent="0" algn="just">
              <a:lnSpc>
                <a:spcPct val="150000"/>
              </a:lnSpc>
            </a:pPr>
            <a:r>
              <a:rPr lang="en-US" sz="3200">
                <a:solidFill>
                  <a:srgbClr val="ECF0F1"/>
                </a:solidFill>
                <a:latin typeface="Times New Roman" panose="02020603050405020304" pitchFamily="18" charset="0"/>
                <a:ea typeface="Inclusive Sans"/>
                <a:cs typeface="Times New Roman" panose="02020603050405020304" pitchFamily="18" charset="0"/>
                <a:sym typeface="Inclusive Sans"/>
              </a:rPr>
              <a:t>	Dự án là một hệ thống thương mại điện tử hoàn chỉnh, với mô hình dữ liệu rõ ràng (Người dùng, Sản phẩm, Danh mục, Đơn hàng và Chi tiết đơn hàng) hỗ trợ luồng mua hàng từ duyệt sản phẩm đến thanh toán;  hệ thống dễ triển khai trên XAMP và mở rộng</a:t>
            </a:r>
          </a:p>
        </p:txBody>
      </p:sp>
      <p:grpSp>
        <p:nvGrpSpPr>
          <p:cNvPr id="7" name="Group 7"/>
          <p:cNvGrpSpPr/>
          <p:nvPr/>
        </p:nvGrpSpPr>
        <p:grpSpPr>
          <a:xfrm>
            <a:off x="8778527" y="524664"/>
            <a:ext cx="8589070" cy="9237673"/>
            <a:chOff x="0" y="0"/>
            <a:chExt cx="1060273" cy="1140339"/>
          </a:xfrm>
        </p:grpSpPr>
        <p:sp>
          <p:nvSpPr>
            <p:cNvPr id="8" name="Freeform 8"/>
            <p:cNvSpPr/>
            <p:nvPr/>
          </p:nvSpPr>
          <p:spPr>
            <a:xfrm>
              <a:off x="0" y="0"/>
              <a:ext cx="1060273" cy="1140339"/>
            </a:xfrm>
            <a:custGeom>
              <a:avLst/>
              <a:gdLst/>
              <a:ahLst/>
              <a:cxnLst/>
              <a:rect l="l" t="t" r="r" b="b"/>
              <a:pathLst>
                <a:path w="1060273" h="1140339">
                  <a:moveTo>
                    <a:pt x="0" y="0"/>
                  </a:moveTo>
                  <a:lnTo>
                    <a:pt x="1060273" y="0"/>
                  </a:lnTo>
                  <a:lnTo>
                    <a:pt x="1060273" y="1140339"/>
                  </a:lnTo>
                  <a:lnTo>
                    <a:pt x="0" y="1140339"/>
                  </a:lnTo>
                  <a:close/>
                </a:path>
              </a:pathLst>
            </a:custGeom>
            <a:blipFill>
              <a:blip r:embed="rId2"/>
              <a:stretch>
                <a:fillRect t="-258" b="-258"/>
              </a:stretch>
            </a:blipFill>
          </p:spPr>
          <p:txBody>
            <a:bodyPr/>
            <a:lstStyle/>
            <a:p>
              <a:endParaRPr lang="en-US"/>
            </a:p>
          </p:txBody>
        </p:sp>
      </p:grpSp>
      <p:sp>
        <p:nvSpPr>
          <p:cNvPr id="9" name="TextBox 9"/>
          <p:cNvSpPr txBox="1"/>
          <p:nvPr/>
        </p:nvSpPr>
        <p:spPr>
          <a:xfrm>
            <a:off x="212758" y="9639300"/>
            <a:ext cx="1250884"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19/20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58" b="-4763"/>
            </a:stretch>
          </a:blipFill>
        </p:spPr>
        <p:txBody>
          <a:bodyPr/>
          <a:lstStyle/>
          <a:p>
            <a:endParaRPr lang="en-US"/>
          </a:p>
        </p:txBody>
      </p:sp>
      <p:sp>
        <p:nvSpPr>
          <p:cNvPr id="3" name="TextBox 3"/>
          <p:cNvSpPr txBox="1"/>
          <p:nvPr/>
        </p:nvSpPr>
        <p:spPr>
          <a:xfrm>
            <a:off x="3861705" y="2902044"/>
            <a:ext cx="10564591" cy="3502024"/>
          </a:xfrm>
          <a:prstGeom prst="rect">
            <a:avLst/>
          </a:prstGeom>
        </p:spPr>
        <p:txBody>
          <a:bodyPr lIns="0" tIns="0" rIns="0" bIns="0" rtlCol="0" anchor="t">
            <a:spAutoFit/>
          </a:bodyPr>
          <a:lstStyle/>
          <a:p>
            <a:pPr algn="ctr">
              <a:lnSpc>
                <a:spcPts val="12999"/>
              </a:lnSpc>
            </a:pPr>
            <a:r>
              <a:rPr lang="en-US" sz="12999">
                <a:solidFill>
                  <a:srgbClr val="FFD72F"/>
                </a:solidFill>
                <a:latin typeface="Perandory"/>
                <a:ea typeface="Perandory"/>
                <a:cs typeface="Perandory"/>
                <a:sym typeface="Perandory"/>
              </a:rPr>
              <a:t>CẢM ƠN VÌ ĐÃ LẮNG NGHE </a:t>
            </a:r>
          </a:p>
        </p:txBody>
      </p:sp>
      <p:sp>
        <p:nvSpPr>
          <p:cNvPr id="4" name="AutoShape 4"/>
          <p:cNvSpPr/>
          <p:nvPr/>
        </p:nvSpPr>
        <p:spPr>
          <a:xfrm>
            <a:off x="1028700" y="1870082"/>
            <a:ext cx="16230600" cy="0"/>
          </a:xfrm>
          <a:prstGeom prst="line">
            <a:avLst/>
          </a:prstGeom>
          <a:ln w="28575" cap="flat">
            <a:solidFill>
              <a:srgbClr val="FFD72F"/>
            </a:solidFill>
            <a:prstDash val="solid"/>
            <a:headEnd type="none" w="sm" len="sm"/>
            <a:tailEnd type="none" w="sm" len="sm"/>
          </a:ln>
        </p:spPr>
        <p:txBody>
          <a:bodyPr/>
          <a:lstStyle/>
          <a:p>
            <a:endParaRPr lang="en-US"/>
          </a:p>
        </p:txBody>
      </p:sp>
      <p:sp>
        <p:nvSpPr>
          <p:cNvPr id="5" name="Freeform 5"/>
          <p:cNvSpPr/>
          <p:nvPr/>
        </p:nvSpPr>
        <p:spPr>
          <a:xfrm>
            <a:off x="8534173" y="7766143"/>
            <a:ext cx="1219654" cy="304913"/>
          </a:xfrm>
          <a:custGeom>
            <a:avLst/>
            <a:gdLst/>
            <a:ahLst/>
            <a:cxnLst/>
            <a:rect l="l" t="t" r="r" b="b"/>
            <a:pathLst>
              <a:path w="1219654" h="304913">
                <a:moveTo>
                  <a:pt x="0" y="0"/>
                </a:moveTo>
                <a:lnTo>
                  <a:pt x="1219654" y="0"/>
                </a:lnTo>
                <a:lnTo>
                  <a:pt x="1219654" y="304913"/>
                </a:lnTo>
                <a:lnTo>
                  <a:pt x="0" y="3049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3048000" y="8531415"/>
            <a:ext cx="12864447" cy="1295226"/>
          </a:xfrm>
          <a:prstGeom prst="rect">
            <a:avLst/>
          </a:prstGeom>
        </p:spPr>
        <p:txBody>
          <a:bodyPr wrap="square" lIns="0" tIns="0" rIns="0" bIns="0" rtlCol="0" anchor="t">
            <a:spAutoFit/>
          </a:bodyPr>
          <a:lstStyle/>
          <a:p>
            <a:pPr algn="ctr">
              <a:lnSpc>
                <a:spcPts val="10146"/>
              </a:lnSpc>
            </a:pPr>
            <a:r>
              <a:rPr lang="en-US" sz="8455">
                <a:solidFill>
                  <a:srgbClr val="FFD72F"/>
                </a:solidFill>
                <a:latin typeface="Algerian" panose="04020705040A02060702" pitchFamily="82" charset="0"/>
                <a:ea typeface="Beautifully Delicious Script"/>
                <a:cs typeface="Beautifully Delicious Script"/>
                <a:sym typeface="Beautifully Delicious Script"/>
              </a:rPr>
              <a:t>Duy Phát – Ngọc Tân</a:t>
            </a:r>
          </a:p>
        </p:txBody>
      </p:sp>
      <p:sp>
        <p:nvSpPr>
          <p:cNvPr id="7" name="TextBox 7"/>
          <p:cNvSpPr txBox="1"/>
          <p:nvPr/>
        </p:nvSpPr>
        <p:spPr>
          <a:xfrm>
            <a:off x="1028700" y="1028700"/>
            <a:ext cx="3563427" cy="390525"/>
          </a:xfrm>
          <a:prstGeom prst="rect">
            <a:avLst/>
          </a:prstGeom>
        </p:spPr>
        <p:txBody>
          <a:bodyPr lIns="0" tIns="0" rIns="0" bIns="0" rtlCol="0" anchor="t">
            <a:spAutoFit/>
          </a:bodyPr>
          <a:lstStyle/>
          <a:p>
            <a:pPr algn="l">
              <a:lnSpc>
                <a:spcPts val="3120"/>
              </a:lnSpc>
            </a:pPr>
            <a:r>
              <a:rPr lang="en-US" sz="2600">
                <a:solidFill>
                  <a:srgbClr val="FFD72F"/>
                </a:solidFill>
                <a:latin typeface="Fira Code"/>
                <a:ea typeface="Fira Code"/>
                <a:cs typeface="Fira Code"/>
                <a:sym typeface="Fira Code"/>
              </a:rPr>
              <a:t>9/1/2026</a:t>
            </a:r>
          </a:p>
        </p:txBody>
      </p:sp>
      <p:sp>
        <p:nvSpPr>
          <p:cNvPr id="8" name="TextBox 8"/>
          <p:cNvSpPr txBox="1"/>
          <p:nvPr/>
        </p:nvSpPr>
        <p:spPr>
          <a:xfrm>
            <a:off x="5486400" y="1142424"/>
            <a:ext cx="7023012" cy="795089"/>
          </a:xfrm>
          <a:prstGeom prst="rect">
            <a:avLst/>
          </a:prstGeom>
        </p:spPr>
        <p:txBody>
          <a:bodyPr wrap="square" lIns="0" tIns="0" rIns="0" bIns="0" rtlCol="0" anchor="t">
            <a:spAutoFit/>
          </a:bodyPr>
          <a:lstStyle/>
          <a:p>
            <a:pPr algn="ctr">
              <a:lnSpc>
                <a:spcPts val="3120"/>
              </a:lnSpc>
            </a:pPr>
            <a:r>
              <a:rPr lang="en-US" sz="2600">
                <a:solidFill>
                  <a:srgbClr val="FFD72F"/>
                </a:solidFill>
                <a:latin typeface="Fira Code"/>
                <a:ea typeface="Fira Code"/>
                <a:cs typeface="Fira Code"/>
                <a:sym typeface="Fira Code"/>
              </a:rPr>
              <a:t>Phát Triển Ứng Dụng Với Mã Nguồn Mở</a:t>
            </a:r>
          </a:p>
          <a:p>
            <a:pPr algn="ctr">
              <a:lnSpc>
                <a:spcPts val="3120"/>
              </a:lnSpc>
            </a:pPr>
            <a:endParaRPr lang="en-US" sz="2600">
              <a:solidFill>
                <a:srgbClr val="FFD72F"/>
              </a:solidFill>
              <a:latin typeface="Fira Code"/>
              <a:ea typeface="Fira Code"/>
              <a:cs typeface="Fira Code"/>
              <a:sym typeface="Fira Code"/>
            </a:endParaRPr>
          </a:p>
        </p:txBody>
      </p:sp>
      <p:sp>
        <p:nvSpPr>
          <p:cNvPr id="9" name="TextBox 9"/>
          <p:cNvSpPr txBox="1"/>
          <p:nvPr/>
        </p:nvSpPr>
        <p:spPr>
          <a:xfrm>
            <a:off x="14065087" y="1028700"/>
            <a:ext cx="3194800" cy="390525"/>
          </a:xfrm>
          <a:prstGeom prst="rect">
            <a:avLst/>
          </a:prstGeom>
        </p:spPr>
        <p:txBody>
          <a:bodyPr lIns="0" tIns="0" rIns="0" bIns="0" rtlCol="0" anchor="t">
            <a:spAutoFit/>
          </a:bodyPr>
          <a:lstStyle/>
          <a:p>
            <a:pPr algn="r">
              <a:lnSpc>
                <a:spcPts val="3120"/>
              </a:lnSpc>
            </a:pPr>
            <a:r>
              <a:rPr lang="en-US" sz="2600">
                <a:solidFill>
                  <a:srgbClr val="FFD72F"/>
                </a:solidFill>
                <a:latin typeface="Fira Code"/>
                <a:ea typeface="Fira Code"/>
                <a:cs typeface="Fira Code"/>
                <a:sym typeface="Fira Code"/>
              </a:rPr>
              <a:t>Đại học Trà Vinh</a:t>
            </a:r>
          </a:p>
        </p:txBody>
      </p:sp>
      <p:sp>
        <p:nvSpPr>
          <p:cNvPr id="10" name="TextBox 10"/>
          <p:cNvSpPr txBox="1"/>
          <p:nvPr/>
        </p:nvSpPr>
        <p:spPr>
          <a:xfrm>
            <a:off x="145880" y="9397270"/>
            <a:ext cx="1301920" cy="500137"/>
          </a:xfrm>
          <a:prstGeom prst="rect">
            <a:avLst/>
          </a:prstGeom>
        </p:spPr>
        <p:txBody>
          <a:bodyPr wrap="square" lIns="0" tIns="0" rIns="0" bIns="0" rtlCol="0" anchor="t">
            <a:spAutoFit/>
          </a:bodyPr>
          <a:lstStyle/>
          <a:p>
            <a:pPr algn="ctr">
              <a:lnSpc>
                <a:spcPts val="4200"/>
              </a:lnSpc>
              <a:spcBef>
                <a:spcPct val="0"/>
              </a:spcBef>
            </a:pPr>
            <a:r>
              <a:rPr lang="en-US" sz="3000" spc="-60" dirty="0">
                <a:solidFill>
                  <a:srgbClr val="ECF0F1"/>
                </a:solidFill>
                <a:latin typeface="Inclusive Sans"/>
                <a:ea typeface="Inclusive Sans"/>
                <a:cs typeface="Inclusive Sans"/>
                <a:sym typeface="Inclusive Sans"/>
              </a:rPr>
              <a:t>20/20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1776</Words>
  <Application>Microsoft Office PowerPoint</Application>
  <PresentationFormat>Custom</PresentationFormat>
  <Paragraphs>205</Paragraphs>
  <Slides>20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Helvetica World Bold</vt:lpstr>
      <vt:lpstr>Fira Code</vt:lpstr>
      <vt:lpstr>Lovelace Text Bold</vt:lpstr>
      <vt:lpstr>Calibri</vt:lpstr>
      <vt:lpstr>Arial</vt:lpstr>
      <vt:lpstr>Times New Roman</vt:lpstr>
      <vt:lpstr>Algerian</vt:lpstr>
      <vt:lpstr>Inclusive Sans</vt:lpstr>
      <vt:lpstr>Helvetica World</vt:lpstr>
      <vt:lpstr>Perandory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website bán trang sức bạc</dc:title>
  <dc:creator>Administrator</dc:creator>
  <cp:lastModifiedBy>Son Ngoc Tan</cp:lastModifiedBy>
  <cp:revision>10</cp:revision>
  <dcterms:created xsi:type="dcterms:W3CDTF">2006-08-16T00:00:00Z</dcterms:created>
  <dcterms:modified xsi:type="dcterms:W3CDTF">2026-01-09T00:24:55Z</dcterms:modified>
  <dc:identifier>DAG9yTiTACA</dc:identifier>
</cp:coreProperties>
</file>